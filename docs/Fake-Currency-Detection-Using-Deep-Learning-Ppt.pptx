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Kanit"/>
      <p:regular r:id="rId17"/>
    </p:embeddedFont>
    <p:embeddedFont>
      <p:font typeface="Kanit"/>
      <p:regular r:id="rId18"/>
    </p:embeddedFont>
    <p:embeddedFont>
      <p:font typeface="Kanit"/>
      <p:regular r:id="rId19"/>
    </p:embeddedFont>
    <p:embeddedFont>
      <p:font typeface="Kanit"/>
      <p:regular r:id="rId20"/>
    </p:embeddedFont>
    <p:embeddedFont>
      <p:font typeface="Martel Sans Light"/>
      <p:regular r:id="rId21"/>
    </p:embeddedFont>
    <p:embeddedFont>
      <p:font typeface="Martel Sans Light"/>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77466" y="688181"/>
            <a:ext cx="7789069" cy="1138476"/>
          </a:xfrm>
          <a:prstGeom prst="rect">
            <a:avLst/>
          </a:prstGeom>
          <a:noFill/>
          <a:ln/>
        </p:spPr>
        <p:txBody>
          <a:bodyPr wrap="square" lIns="0" tIns="0" rIns="0" bIns="0" rtlCol="0" anchor="t"/>
          <a:lstStyle/>
          <a:p>
            <a:pPr algn="l" indent="0" marL="0">
              <a:lnSpc>
                <a:spcPts val="4450"/>
              </a:lnSpc>
              <a:buNone/>
            </a:pPr>
            <a:r>
              <a:rPr lang="en-US" sz="3550" dirty="0">
                <a:solidFill>
                  <a:srgbClr val="FFFFFF"/>
                </a:solidFill>
                <a:latin typeface="Kanit" pitchFamily="34" charset="0"/>
                <a:ea typeface="Kanit" pitchFamily="34" charset="-122"/>
                <a:cs typeface="Kanit" pitchFamily="34" charset="-120"/>
              </a:rPr>
              <a:t>Fake Currency Detection Using Deep Learning</a:t>
            </a:r>
            <a:endParaRPr lang="en-US" sz="3550" dirty="0"/>
          </a:p>
        </p:txBody>
      </p:sp>
      <p:sp>
        <p:nvSpPr>
          <p:cNvPr id="4" name="Text 1"/>
          <p:cNvSpPr/>
          <p:nvPr/>
        </p:nvSpPr>
        <p:spPr>
          <a:xfrm>
            <a:off x="677466" y="2116931"/>
            <a:ext cx="7789069" cy="619363"/>
          </a:xfrm>
          <a:prstGeom prst="rect">
            <a:avLst/>
          </a:prstGeom>
          <a:noFill/>
          <a:ln/>
        </p:spPr>
        <p:txBody>
          <a:bodyPr wrap="square" lIns="0" tIns="0" rIns="0" bIns="0" rtlCol="0" anchor="t"/>
          <a:lstStyle/>
          <a:p>
            <a:pPr algn="l" indent="0" marL="0">
              <a:lnSpc>
                <a:spcPts val="2400"/>
              </a:lnSpc>
              <a:buNone/>
            </a:pPr>
            <a:r>
              <a:rPr lang="en-US" sz="1500" i="1" dirty="0">
                <a:solidFill>
                  <a:srgbClr val="D9E1FF"/>
                </a:solidFill>
                <a:latin typeface="Martel Sans Light" pitchFamily="34" charset="0"/>
                <a:ea typeface="Martel Sans Light" pitchFamily="34" charset="-122"/>
                <a:cs typeface="Martel Sans Light" pitchFamily="34" charset="-120"/>
              </a:rPr>
              <a:t>Combining Computer Vision and Neural Networks for Reliable Banknote Authentication</a:t>
            </a:r>
            <a:endParaRPr lang="en-US" sz="1500" dirty="0"/>
          </a:p>
        </p:txBody>
      </p:sp>
      <p:sp>
        <p:nvSpPr>
          <p:cNvPr id="5" name="Text 2"/>
          <p:cNvSpPr/>
          <p:nvPr/>
        </p:nvSpPr>
        <p:spPr>
          <a:xfrm>
            <a:off x="677466" y="2954060"/>
            <a:ext cx="7789069" cy="309682"/>
          </a:xfrm>
          <a:prstGeom prst="rect">
            <a:avLst/>
          </a:prstGeom>
          <a:noFill/>
          <a:ln/>
        </p:spPr>
        <p:txBody>
          <a:bodyPr wrap="none" lIns="0" tIns="0" rIns="0" bIns="0" rtlCol="0" anchor="t"/>
          <a:lstStyle/>
          <a:p>
            <a:pPr algn="l" indent="0" marL="0">
              <a:lnSpc>
                <a:spcPts val="2400"/>
              </a:lnSpc>
              <a:buNone/>
            </a:pPr>
            <a:r>
              <a:rPr lang="en-US" sz="1500" dirty="0">
                <a:solidFill>
                  <a:srgbClr val="D9E1FF"/>
                </a:solidFill>
                <a:latin typeface="Martel Sans Light" pitchFamily="34" charset="0"/>
                <a:ea typeface="Martel Sans Light" pitchFamily="34" charset="-122"/>
                <a:cs typeface="Martel Sans Light" pitchFamily="34" charset="-120"/>
              </a:rPr>
              <a:t>Presented by: [Your Name], [Institution], [Date]</a:t>
            </a:r>
            <a:endParaRPr lang="en-US" sz="1500" dirty="0"/>
          </a:p>
        </p:txBody>
      </p:sp>
      <p:sp>
        <p:nvSpPr>
          <p:cNvPr id="6" name="Text 3"/>
          <p:cNvSpPr/>
          <p:nvPr/>
        </p:nvSpPr>
        <p:spPr>
          <a:xfrm>
            <a:off x="677466" y="3481507"/>
            <a:ext cx="7789069" cy="1548408"/>
          </a:xfrm>
          <a:prstGeom prst="rect">
            <a:avLst/>
          </a:prstGeom>
          <a:noFill/>
          <a:ln/>
        </p:spPr>
        <p:txBody>
          <a:bodyPr wrap="square" lIns="0" tIns="0" rIns="0" bIns="0" rtlCol="0" anchor="t"/>
          <a:lstStyle/>
          <a:p>
            <a:pPr algn="l" indent="0" marL="0">
              <a:lnSpc>
                <a:spcPts val="2400"/>
              </a:lnSpc>
              <a:buNone/>
            </a:pPr>
            <a:r>
              <a:rPr lang="en-US" sz="1500" dirty="0">
                <a:solidFill>
                  <a:srgbClr val="D9E1FF"/>
                </a:solidFill>
                <a:latin typeface="Martel Sans Light" pitchFamily="34" charset="0"/>
                <a:ea typeface="Martel Sans Light" pitchFamily="34" charset="-122"/>
                <a:cs typeface="Martel Sans Light" pitchFamily="34" charset="-120"/>
              </a:rPr>
              <a:t>In this presentation, we will explore the challenges of counterfeit currency detection and how deep learning techniques can enhance the reliability and efficiency of banknote authentication. Using advanced computer vision methods coupled with neural networks, we aim to build models capable of distinguishing fake currency notes from genuine ones with high accuracy.</a:t>
            </a:r>
            <a:endParaRPr lang="en-US" sz="1500" dirty="0"/>
          </a:p>
        </p:txBody>
      </p:sp>
      <p:sp>
        <p:nvSpPr>
          <p:cNvPr id="7" name="Text 4"/>
          <p:cNvSpPr/>
          <p:nvPr/>
        </p:nvSpPr>
        <p:spPr>
          <a:xfrm>
            <a:off x="677466" y="5247680"/>
            <a:ext cx="7789069" cy="1238726"/>
          </a:xfrm>
          <a:prstGeom prst="rect">
            <a:avLst/>
          </a:prstGeom>
          <a:noFill/>
          <a:ln/>
        </p:spPr>
        <p:txBody>
          <a:bodyPr wrap="square" lIns="0" tIns="0" rIns="0" bIns="0" rtlCol="0" anchor="t"/>
          <a:lstStyle/>
          <a:p>
            <a:pPr algn="l" indent="0" marL="0">
              <a:lnSpc>
                <a:spcPts val="2400"/>
              </a:lnSpc>
              <a:buNone/>
            </a:pPr>
            <a:r>
              <a:rPr lang="en-US" sz="1500" dirty="0">
                <a:solidFill>
                  <a:srgbClr val="D9E1FF"/>
                </a:solidFill>
                <a:latin typeface="Martel Sans Light" pitchFamily="34" charset="0"/>
                <a:ea typeface="Martel Sans Light" pitchFamily="34" charset="-122"/>
                <a:cs typeface="Martel Sans Light" pitchFamily="34" charset="-120"/>
              </a:rPr>
              <a:t>The approach leverages image preprocessing, feature extraction, and convolutional neural networks to analyze subtle patterns and textures unique to legitimate currency. This work has significant implications for financial institutions and governments aiming to reduce fraud and maintain economic integrity.</a:t>
            </a:r>
            <a:endParaRPr lang="en-US" sz="1500" dirty="0"/>
          </a:p>
        </p:txBody>
      </p:sp>
      <p:sp>
        <p:nvSpPr>
          <p:cNvPr id="8" name="Text 5"/>
          <p:cNvSpPr/>
          <p:nvPr/>
        </p:nvSpPr>
        <p:spPr>
          <a:xfrm>
            <a:off x="677466" y="6704171"/>
            <a:ext cx="7789069" cy="309682"/>
          </a:xfrm>
          <a:prstGeom prst="rect">
            <a:avLst/>
          </a:prstGeom>
          <a:noFill/>
          <a:ln/>
        </p:spPr>
        <p:txBody>
          <a:bodyPr wrap="none" lIns="0" tIns="0" rIns="0" bIns="0" rtlCol="0" anchor="t"/>
          <a:lstStyle/>
          <a:p>
            <a:pPr algn="l" indent="0" marL="0">
              <a:lnSpc>
                <a:spcPts val="2400"/>
              </a:lnSpc>
              <a:buNone/>
            </a:pPr>
            <a:r>
              <a:rPr lang="en-US" sz="1500" dirty="0">
                <a:solidFill>
                  <a:srgbClr val="D9E1FF"/>
                </a:solidFill>
                <a:latin typeface="Martel Sans Light" pitchFamily="34" charset="0"/>
                <a:ea typeface="Martel Sans Light" pitchFamily="34" charset="-122"/>
                <a:cs typeface="Martel Sans Light" pitchFamily="34" charset="-120"/>
              </a:rPr>
              <a:t>Fareeda Begaum</a:t>
            </a:r>
            <a:endParaRPr lang="en-US" sz="1500" dirty="0"/>
          </a:p>
        </p:txBody>
      </p:sp>
      <p:sp>
        <p:nvSpPr>
          <p:cNvPr id="9" name="Text 6"/>
          <p:cNvSpPr/>
          <p:nvPr/>
        </p:nvSpPr>
        <p:spPr>
          <a:xfrm>
            <a:off x="677466" y="7231618"/>
            <a:ext cx="7789069" cy="309682"/>
          </a:xfrm>
          <a:prstGeom prst="rect">
            <a:avLst/>
          </a:prstGeom>
          <a:noFill/>
          <a:ln/>
        </p:spPr>
        <p:txBody>
          <a:bodyPr wrap="none" lIns="0" tIns="0" rIns="0" bIns="0" rtlCol="0" anchor="t"/>
          <a:lstStyle/>
          <a:p>
            <a:pPr algn="l" indent="0" marL="0">
              <a:lnSpc>
                <a:spcPts val="2400"/>
              </a:lnSpc>
              <a:buNone/>
            </a:pPr>
            <a:r>
              <a:rPr lang="en-US" sz="1500" dirty="0">
                <a:solidFill>
                  <a:srgbClr val="D9E1FF"/>
                </a:solidFill>
                <a:latin typeface="Martel Sans Light" pitchFamily="34" charset="0"/>
                <a:ea typeface="Martel Sans Light" pitchFamily="34" charset="-122"/>
                <a:cs typeface="Martel Sans Light" pitchFamily="34" charset="-120"/>
              </a:rPr>
              <a:t>U23IA22S0016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33279" y="900827"/>
            <a:ext cx="7345561" cy="627698"/>
          </a:xfrm>
          <a:prstGeom prst="rect">
            <a:avLst/>
          </a:prstGeom>
          <a:noFill/>
          <a:ln/>
        </p:spPr>
        <p:txBody>
          <a:bodyPr wrap="none" lIns="0" tIns="0" rIns="0" bIns="0" rtlCol="0" anchor="t"/>
          <a:lstStyle/>
          <a:p>
            <a:pPr algn="l" indent="0" marL="0">
              <a:lnSpc>
                <a:spcPts val="4900"/>
              </a:lnSpc>
              <a:buNone/>
            </a:pPr>
            <a:r>
              <a:rPr lang="en-US" sz="3950" dirty="0">
                <a:solidFill>
                  <a:srgbClr val="FFFFFF"/>
                </a:solidFill>
                <a:latin typeface="Kanit" pitchFamily="34" charset="0"/>
                <a:ea typeface="Kanit" pitchFamily="34" charset="-122"/>
                <a:cs typeface="Kanit" pitchFamily="34" charset="-120"/>
              </a:rPr>
              <a:t>Problem Statement &amp; Motivation</a:t>
            </a:r>
            <a:endParaRPr lang="en-US" sz="3950" dirty="0"/>
          </a:p>
        </p:txBody>
      </p:sp>
      <p:sp>
        <p:nvSpPr>
          <p:cNvPr id="4" name="Shape 1"/>
          <p:cNvSpPr/>
          <p:nvPr/>
        </p:nvSpPr>
        <p:spPr>
          <a:xfrm>
            <a:off x="6233279" y="1848564"/>
            <a:ext cx="7650242" cy="1210032"/>
          </a:xfrm>
          <a:prstGeom prst="roundRect">
            <a:avLst>
              <a:gd name="adj" fmla="val 2646"/>
            </a:avLst>
          </a:prstGeom>
          <a:solidFill>
            <a:srgbClr val="2F2B54"/>
          </a:solidFill>
          <a:ln/>
        </p:spPr>
      </p:sp>
      <p:sp>
        <p:nvSpPr>
          <p:cNvPr id="5" name="Text 2"/>
          <p:cNvSpPr/>
          <p:nvPr/>
        </p:nvSpPr>
        <p:spPr>
          <a:xfrm>
            <a:off x="6446639" y="2061924"/>
            <a:ext cx="2510790" cy="313849"/>
          </a:xfrm>
          <a:prstGeom prst="rect">
            <a:avLst/>
          </a:prstGeom>
          <a:noFill/>
          <a:ln/>
        </p:spPr>
        <p:txBody>
          <a:bodyPr wrap="none" lIns="0" tIns="0" rIns="0" bIns="0" rtlCol="0" anchor="t"/>
          <a:lstStyle/>
          <a:p>
            <a:pPr algn="l" indent="0" marL="0">
              <a:lnSpc>
                <a:spcPts val="2450"/>
              </a:lnSpc>
              <a:buNone/>
            </a:pPr>
            <a:r>
              <a:rPr lang="en-US" sz="1950" dirty="0">
                <a:solidFill>
                  <a:srgbClr val="D9E1FF"/>
                </a:solidFill>
                <a:latin typeface="Kanit" pitchFamily="34" charset="0"/>
                <a:ea typeface="Kanit" pitchFamily="34" charset="-122"/>
                <a:cs typeface="Kanit" pitchFamily="34" charset="-120"/>
              </a:rPr>
              <a:t>Counterfeit Rise</a:t>
            </a:r>
            <a:endParaRPr lang="en-US" sz="1950" dirty="0"/>
          </a:p>
        </p:txBody>
      </p:sp>
      <p:sp>
        <p:nvSpPr>
          <p:cNvPr id="6" name="Text 3"/>
          <p:cNvSpPr/>
          <p:nvPr/>
        </p:nvSpPr>
        <p:spPr>
          <a:xfrm>
            <a:off x="6446639" y="2503765"/>
            <a:ext cx="7223522" cy="341471"/>
          </a:xfrm>
          <a:prstGeom prst="rect">
            <a:avLst/>
          </a:prstGeom>
          <a:noFill/>
          <a:ln/>
        </p:spPr>
        <p:txBody>
          <a:bodyPr wrap="none" lIns="0" tIns="0" rIns="0" bIns="0" rtlCol="0" anchor="t"/>
          <a:lstStyle/>
          <a:p>
            <a:pPr algn="l" indent="0" marL="0">
              <a:lnSpc>
                <a:spcPts val="2650"/>
              </a:lnSpc>
              <a:buNone/>
            </a:pPr>
            <a:r>
              <a:rPr lang="en-US" sz="1650" dirty="0">
                <a:solidFill>
                  <a:srgbClr val="D9E1FF"/>
                </a:solidFill>
                <a:latin typeface="Martel Sans Light" pitchFamily="34" charset="0"/>
                <a:ea typeface="Martel Sans Light" pitchFamily="34" charset="-122"/>
                <a:cs typeface="Martel Sans Light" pitchFamily="34" charset="-120"/>
              </a:rPr>
              <a:t>Increasing circulation of fake currency notes worldwide.</a:t>
            </a:r>
            <a:endParaRPr lang="en-US" sz="1650" dirty="0"/>
          </a:p>
        </p:txBody>
      </p:sp>
      <p:sp>
        <p:nvSpPr>
          <p:cNvPr id="7" name="Shape 4"/>
          <p:cNvSpPr/>
          <p:nvPr/>
        </p:nvSpPr>
        <p:spPr>
          <a:xfrm>
            <a:off x="6233279" y="3271957"/>
            <a:ext cx="7650242" cy="1210032"/>
          </a:xfrm>
          <a:prstGeom prst="roundRect">
            <a:avLst>
              <a:gd name="adj" fmla="val 2646"/>
            </a:avLst>
          </a:prstGeom>
          <a:solidFill>
            <a:srgbClr val="2F2B54"/>
          </a:solidFill>
          <a:ln/>
        </p:spPr>
      </p:sp>
      <p:sp>
        <p:nvSpPr>
          <p:cNvPr id="8" name="Text 5"/>
          <p:cNvSpPr/>
          <p:nvPr/>
        </p:nvSpPr>
        <p:spPr>
          <a:xfrm>
            <a:off x="6446639" y="3485317"/>
            <a:ext cx="2718197" cy="313849"/>
          </a:xfrm>
          <a:prstGeom prst="rect">
            <a:avLst/>
          </a:prstGeom>
          <a:noFill/>
          <a:ln/>
        </p:spPr>
        <p:txBody>
          <a:bodyPr wrap="none" lIns="0" tIns="0" rIns="0" bIns="0" rtlCol="0" anchor="t"/>
          <a:lstStyle/>
          <a:p>
            <a:pPr algn="l" indent="0" marL="0">
              <a:lnSpc>
                <a:spcPts val="2450"/>
              </a:lnSpc>
              <a:buNone/>
            </a:pPr>
            <a:r>
              <a:rPr lang="en-US" sz="1950" dirty="0">
                <a:solidFill>
                  <a:srgbClr val="D9E1FF"/>
                </a:solidFill>
                <a:latin typeface="Kanit" pitchFamily="34" charset="0"/>
                <a:ea typeface="Kanit" pitchFamily="34" charset="-122"/>
                <a:cs typeface="Kanit" pitchFamily="34" charset="-120"/>
              </a:rPr>
              <a:t>Manual Detection Limits</a:t>
            </a:r>
            <a:endParaRPr lang="en-US" sz="1950" dirty="0"/>
          </a:p>
        </p:txBody>
      </p:sp>
      <p:sp>
        <p:nvSpPr>
          <p:cNvPr id="9" name="Text 6"/>
          <p:cNvSpPr/>
          <p:nvPr/>
        </p:nvSpPr>
        <p:spPr>
          <a:xfrm>
            <a:off x="6446639" y="3927157"/>
            <a:ext cx="7223522" cy="341471"/>
          </a:xfrm>
          <a:prstGeom prst="rect">
            <a:avLst/>
          </a:prstGeom>
          <a:noFill/>
          <a:ln/>
        </p:spPr>
        <p:txBody>
          <a:bodyPr wrap="none" lIns="0" tIns="0" rIns="0" bIns="0" rtlCol="0" anchor="t"/>
          <a:lstStyle/>
          <a:p>
            <a:pPr algn="l" indent="0" marL="0">
              <a:lnSpc>
                <a:spcPts val="2650"/>
              </a:lnSpc>
              <a:buNone/>
            </a:pPr>
            <a:r>
              <a:rPr lang="en-US" sz="1650" dirty="0">
                <a:solidFill>
                  <a:srgbClr val="D9E1FF"/>
                </a:solidFill>
                <a:latin typeface="Martel Sans Light" pitchFamily="34" charset="0"/>
                <a:ea typeface="Martel Sans Light" pitchFamily="34" charset="-122"/>
                <a:cs typeface="Martel Sans Light" pitchFamily="34" charset="-120"/>
              </a:rPr>
              <a:t>Human error common, especially at large scale.</a:t>
            </a:r>
            <a:endParaRPr lang="en-US" sz="1650" dirty="0"/>
          </a:p>
        </p:txBody>
      </p:sp>
      <p:sp>
        <p:nvSpPr>
          <p:cNvPr id="10" name="Shape 7"/>
          <p:cNvSpPr/>
          <p:nvPr/>
        </p:nvSpPr>
        <p:spPr>
          <a:xfrm>
            <a:off x="6233279" y="4695349"/>
            <a:ext cx="7650242" cy="1210032"/>
          </a:xfrm>
          <a:prstGeom prst="roundRect">
            <a:avLst>
              <a:gd name="adj" fmla="val 2646"/>
            </a:avLst>
          </a:prstGeom>
          <a:solidFill>
            <a:srgbClr val="2F2B54"/>
          </a:solidFill>
          <a:ln/>
        </p:spPr>
      </p:sp>
      <p:sp>
        <p:nvSpPr>
          <p:cNvPr id="11" name="Text 8"/>
          <p:cNvSpPr/>
          <p:nvPr/>
        </p:nvSpPr>
        <p:spPr>
          <a:xfrm>
            <a:off x="6446639" y="4908709"/>
            <a:ext cx="2510790" cy="313849"/>
          </a:xfrm>
          <a:prstGeom prst="rect">
            <a:avLst/>
          </a:prstGeom>
          <a:noFill/>
          <a:ln/>
        </p:spPr>
        <p:txBody>
          <a:bodyPr wrap="none" lIns="0" tIns="0" rIns="0" bIns="0" rtlCol="0" anchor="t"/>
          <a:lstStyle/>
          <a:p>
            <a:pPr algn="l" indent="0" marL="0">
              <a:lnSpc>
                <a:spcPts val="2450"/>
              </a:lnSpc>
              <a:buNone/>
            </a:pPr>
            <a:r>
              <a:rPr lang="en-US" sz="1950" dirty="0">
                <a:solidFill>
                  <a:srgbClr val="D9E1FF"/>
                </a:solidFill>
                <a:latin typeface="Kanit" pitchFamily="34" charset="0"/>
                <a:ea typeface="Kanit" pitchFamily="34" charset="-122"/>
                <a:cs typeface="Kanit" pitchFamily="34" charset="-120"/>
              </a:rPr>
              <a:t>Socio-Economic Risks</a:t>
            </a:r>
            <a:endParaRPr lang="en-US" sz="1950" dirty="0"/>
          </a:p>
        </p:txBody>
      </p:sp>
      <p:sp>
        <p:nvSpPr>
          <p:cNvPr id="12" name="Text 9"/>
          <p:cNvSpPr/>
          <p:nvPr/>
        </p:nvSpPr>
        <p:spPr>
          <a:xfrm>
            <a:off x="6446639" y="5350550"/>
            <a:ext cx="7223522" cy="341471"/>
          </a:xfrm>
          <a:prstGeom prst="rect">
            <a:avLst/>
          </a:prstGeom>
          <a:noFill/>
          <a:ln/>
        </p:spPr>
        <p:txBody>
          <a:bodyPr wrap="none" lIns="0" tIns="0" rIns="0" bIns="0" rtlCol="0" anchor="t"/>
          <a:lstStyle/>
          <a:p>
            <a:pPr algn="l" indent="0" marL="0">
              <a:lnSpc>
                <a:spcPts val="2650"/>
              </a:lnSpc>
              <a:buNone/>
            </a:pPr>
            <a:r>
              <a:rPr lang="en-US" sz="1650" dirty="0">
                <a:solidFill>
                  <a:srgbClr val="D9E1FF"/>
                </a:solidFill>
                <a:latin typeface="Martel Sans Light" pitchFamily="34" charset="0"/>
                <a:ea typeface="Martel Sans Light" pitchFamily="34" charset="-122"/>
                <a:cs typeface="Martel Sans Light" pitchFamily="34" charset="-120"/>
              </a:rPr>
              <a:t>Supports black market, terrorism, and inflation.</a:t>
            </a:r>
            <a:endParaRPr lang="en-US" sz="1650" dirty="0"/>
          </a:p>
        </p:txBody>
      </p:sp>
      <p:sp>
        <p:nvSpPr>
          <p:cNvPr id="13" name="Shape 10"/>
          <p:cNvSpPr/>
          <p:nvPr/>
        </p:nvSpPr>
        <p:spPr>
          <a:xfrm>
            <a:off x="6233279" y="6118741"/>
            <a:ext cx="7650242" cy="1210032"/>
          </a:xfrm>
          <a:prstGeom prst="roundRect">
            <a:avLst>
              <a:gd name="adj" fmla="val 2646"/>
            </a:avLst>
          </a:prstGeom>
          <a:solidFill>
            <a:srgbClr val="2F2B54"/>
          </a:solidFill>
          <a:ln/>
        </p:spPr>
      </p:sp>
      <p:sp>
        <p:nvSpPr>
          <p:cNvPr id="14" name="Text 11"/>
          <p:cNvSpPr/>
          <p:nvPr/>
        </p:nvSpPr>
        <p:spPr>
          <a:xfrm>
            <a:off x="6446639" y="6332101"/>
            <a:ext cx="2510790" cy="313849"/>
          </a:xfrm>
          <a:prstGeom prst="rect">
            <a:avLst/>
          </a:prstGeom>
          <a:noFill/>
          <a:ln/>
        </p:spPr>
        <p:txBody>
          <a:bodyPr wrap="none" lIns="0" tIns="0" rIns="0" bIns="0" rtlCol="0" anchor="t"/>
          <a:lstStyle/>
          <a:p>
            <a:pPr algn="l" indent="0" marL="0">
              <a:lnSpc>
                <a:spcPts val="2450"/>
              </a:lnSpc>
              <a:buNone/>
            </a:pPr>
            <a:r>
              <a:rPr lang="en-US" sz="1950" dirty="0">
                <a:solidFill>
                  <a:srgbClr val="D9E1FF"/>
                </a:solidFill>
                <a:latin typeface="Kanit" pitchFamily="34" charset="0"/>
                <a:ea typeface="Kanit" pitchFamily="34" charset="-122"/>
                <a:cs typeface="Kanit" pitchFamily="34" charset="-120"/>
              </a:rPr>
              <a:t>Need for Automation</a:t>
            </a:r>
            <a:endParaRPr lang="en-US" sz="1950" dirty="0"/>
          </a:p>
        </p:txBody>
      </p:sp>
      <p:sp>
        <p:nvSpPr>
          <p:cNvPr id="15" name="Text 12"/>
          <p:cNvSpPr/>
          <p:nvPr/>
        </p:nvSpPr>
        <p:spPr>
          <a:xfrm>
            <a:off x="6446639" y="6773942"/>
            <a:ext cx="7223522" cy="341471"/>
          </a:xfrm>
          <a:prstGeom prst="rect">
            <a:avLst/>
          </a:prstGeom>
          <a:noFill/>
          <a:ln/>
        </p:spPr>
        <p:txBody>
          <a:bodyPr wrap="none" lIns="0" tIns="0" rIns="0" bIns="0" rtlCol="0" anchor="t"/>
          <a:lstStyle/>
          <a:p>
            <a:pPr algn="l" indent="0" marL="0">
              <a:lnSpc>
                <a:spcPts val="2650"/>
              </a:lnSpc>
              <a:buNone/>
            </a:pPr>
            <a:r>
              <a:rPr lang="en-US" sz="1650" dirty="0">
                <a:solidFill>
                  <a:srgbClr val="D9E1FF"/>
                </a:solidFill>
                <a:latin typeface="Martel Sans Light" pitchFamily="34" charset="0"/>
                <a:ea typeface="Martel Sans Light" pitchFamily="34" charset="-122"/>
                <a:cs typeface="Martel Sans Light" pitchFamily="34" charset="-120"/>
              </a:rPr>
              <a:t>Scalable, real-time system essential for reliability.</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0076"/>
          </a:xfrm>
          <a:prstGeom prst="rect">
            <a:avLst/>
          </a:prstGeom>
        </p:spPr>
      </p:pic>
      <p:sp>
        <p:nvSpPr>
          <p:cNvPr id="3" name="Text 0"/>
          <p:cNvSpPr/>
          <p:nvPr/>
        </p:nvSpPr>
        <p:spPr>
          <a:xfrm>
            <a:off x="721162" y="566618"/>
            <a:ext cx="4848463" cy="606028"/>
          </a:xfrm>
          <a:prstGeom prst="rect">
            <a:avLst/>
          </a:prstGeom>
          <a:noFill/>
          <a:ln/>
        </p:spPr>
        <p:txBody>
          <a:bodyPr wrap="none" lIns="0" tIns="0" rIns="0" bIns="0" rtlCol="0" anchor="t"/>
          <a:lstStyle/>
          <a:p>
            <a:pPr algn="l" indent="0" marL="0">
              <a:lnSpc>
                <a:spcPts val="4750"/>
              </a:lnSpc>
              <a:buNone/>
            </a:pPr>
            <a:r>
              <a:rPr lang="en-US" sz="3800" dirty="0">
                <a:solidFill>
                  <a:srgbClr val="FFFFFF"/>
                </a:solidFill>
                <a:latin typeface="Kanit" pitchFamily="34" charset="0"/>
                <a:ea typeface="Kanit" pitchFamily="34" charset="-122"/>
                <a:cs typeface="Kanit" pitchFamily="34" charset="-120"/>
              </a:rPr>
              <a:t>System Workflow</a:t>
            </a:r>
            <a:endParaRPr lang="en-US" sz="3800" dirty="0"/>
          </a:p>
        </p:txBody>
      </p:sp>
      <p:pic>
        <p:nvPicPr>
          <p:cNvPr id="4" name="Image 1" descr="preencoded.png">    </p:cNvPr>
          <p:cNvPicPr>
            <a:picLocks noChangeAspect="1"/>
          </p:cNvPicPr>
          <p:nvPr/>
        </p:nvPicPr>
        <p:blipFill>
          <a:blip r:embed="rId2"/>
          <a:stretch>
            <a:fillRect/>
          </a:stretch>
        </p:blipFill>
        <p:spPr>
          <a:xfrm>
            <a:off x="721162" y="1481733"/>
            <a:ext cx="1030248" cy="1236345"/>
          </a:xfrm>
          <a:prstGeom prst="rect">
            <a:avLst/>
          </a:prstGeom>
        </p:spPr>
      </p:pic>
      <p:sp>
        <p:nvSpPr>
          <p:cNvPr id="5" name="Text 1"/>
          <p:cNvSpPr/>
          <p:nvPr/>
        </p:nvSpPr>
        <p:spPr>
          <a:xfrm>
            <a:off x="2060496" y="1687711"/>
            <a:ext cx="2424232" cy="303014"/>
          </a:xfrm>
          <a:prstGeom prst="rect">
            <a:avLst/>
          </a:prstGeom>
          <a:noFill/>
          <a:ln/>
        </p:spPr>
        <p:txBody>
          <a:bodyPr wrap="none" lIns="0" tIns="0" rIns="0" bIns="0" rtlCol="0" anchor="t"/>
          <a:lstStyle/>
          <a:p>
            <a:pPr algn="l" indent="0" marL="0">
              <a:lnSpc>
                <a:spcPts val="2350"/>
              </a:lnSpc>
              <a:buNone/>
            </a:pPr>
            <a:r>
              <a:rPr lang="en-US" sz="1900" dirty="0">
                <a:solidFill>
                  <a:srgbClr val="D9E1FF"/>
                </a:solidFill>
                <a:latin typeface="Kanit" pitchFamily="34" charset="0"/>
                <a:ea typeface="Kanit" pitchFamily="34" charset="-122"/>
                <a:cs typeface="Kanit" pitchFamily="34" charset="-120"/>
              </a:rPr>
              <a:t>Image Input</a:t>
            </a:r>
            <a:endParaRPr lang="en-US" sz="1900" dirty="0"/>
          </a:p>
        </p:txBody>
      </p:sp>
      <p:sp>
        <p:nvSpPr>
          <p:cNvPr id="6" name="Text 2"/>
          <p:cNvSpPr/>
          <p:nvPr/>
        </p:nvSpPr>
        <p:spPr>
          <a:xfrm>
            <a:off x="2060496" y="2114312"/>
            <a:ext cx="6362343" cy="329684"/>
          </a:xfrm>
          <a:prstGeom prst="rect">
            <a:avLst/>
          </a:prstGeom>
          <a:noFill/>
          <a:ln/>
        </p:spPr>
        <p:txBody>
          <a:bodyPr wrap="none" lIns="0" tIns="0" rIns="0" bIns="0" rtlCol="0" anchor="t"/>
          <a:lstStyle/>
          <a:p>
            <a:pPr algn="l" indent="0" marL="0">
              <a:lnSpc>
                <a:spcPts val="2550"/>
              </a:lnSpc>
              <a:buNone/>
            </a:pPr>
            <a:r>
              <a:rPr lang="en-US" sz="1600" dirty="0">
                <a:solidFill>
                  <a:srgbClr val="D9E1FF"/>
                </a:solidFill>
                <a:latin typeface="Martel Sans Light" pitchFamily="34" charset="0"/>
                <a:ea typeface="Martel Sans Light" pitchFamily="34" charset="-122"/>
                <a:cs typeface="Martel Sans Light" pitchFamily="34" charset="-120"/>
              </a:rPr>
              <a:t>Scanner or mobile camera captures banknote image.</a:t>
            </a:r>
            <a:endParaRPr lang="en-US" sz="1600" dirty="0"/>
          </a:p>
        </p:txBody>
      </p:sp>
      <p:pic>
        <p:nvPicPr>
          <p:cNvPr id="7" name="Image 2" descr="preencoded.png">    </p:cNvPr>
          <p:cNvPicPr>
            <a:picLocks noChangeAspect="1"/>
          </p:cNvPicPr>
          <p:nvPr/>
        </p:nvPicPr>
        <p:blipFill>
          <a:blip r:embed="rId3"/>
          <a:stretch>
            <a:fillRect/>
          </a:stretch>
        </p:blipFill>
        <p:spPr>
          <a:xfrm>
            <a:off x="721162" y="2718078"/>
            <a:ext cx="1030248" cy="1236345"/>
          </a:xfrm>
          <a:prstGeom prst="rect">
            <a:avLst/>
          </a:prstGeom>
        </p:spPr>
      </p:pic>
      <p:sp>
        <p:nvSpPr>
          <p:cNvPr id="8" name="Text 3"/>
          <p:cNvSpPr/>
          <p:nvPr/>
        </p:nvSpPr>
        <p:spPr>
          <a:xfrm>
            <a:off x="2060496" y="2924056"/>
            <a:ext cx="2424232" cy="303014"/>
          </a:xfrm>
          <a:prstGeom prst="rect">
            <a:avLst/>
          </a:prstGeom>
          <a:noFill/>
          <a:ln/>
        </p:spPr>
        <p:txBody>
          <a:bodyPr wrap="none" lIns="0" tIns="0" rIns="0" bIns="0" rtlCol="0" anchor="t"/>
          <a:lstStyle/>
          <a:p>
            <a:pPr algn="l" indent="0" marL="0">
              <a:lnSpc>
                <a:spcPts val="2350"/>
              </a:lnSpc>
              <a:buNone/>
            </a:pPr>
            <a:r>
              <a:rPr lang="en-US" sz="1900" dirty="0">
                <a:solidFill>
                  <a:srgbClr val="D9E1FF"/>
                </a:solidFill>
                <a:latin typeface="Kanit" pitchFamily="34" charset="0"/>
                <a:ea typeface="Kanit" pitchFamily="34" charset="-122"/>
                <a:cs typeface="Kanit" pitchFamily="34" charset="-120"/>
              </a:rPr>
              <a:t>Preprocessing</a:t>
            </a:r>
            <a:endParaRPr lang="en-US" sz="1900" dirty="0"/>
          </a:p>
        </p:txBody>
      </p:sp>
      <p:sp>
        <p:nvSpPr>
          <p:cNvPr id="9" name="Text 4"/>
          <p:cNvSpPr/>
          <p:nvPr/>
        </p:nvSpPr>
        <p:spPr>
          <a:xfrm>
            <a:off x="2060496" y="3350657"/>
            <a:ext cx="6362343" cy="329684"/>
          </a:xfrm>
          <a:prstGeom prst="rect">
            <a:avLst/>
          </a:prstGeom>
          <a:noFill/>
          <a:ln/>
        </p:spPr>
        <p:txBody>
          <a:bodyPr wrap="none" lIns="0" tIns="0" rIns="0" bIns="0" rtlCol="0" anchor="t"/>
          <a:lstStyle/>
          <a:p>
            <a:pPr algn="l" indent="0" marL="0">
              <a:lnSpc>
                <a:spcPts val="2550"/>
              </a:lnSpc>
              <a:buNone/>
            </a:pPr>
            <a:r>
              <a:rPr lang="en-US" sz="1600" dirty="0">
                <a:solidFill>
                  <a:srgbClr val="D9E1FF"/>
                </a:solidFill>
                <a:latin typeface="Martel Sans Light" pitchFamily="34" charset="0"/>
                <a:ea typeface="Martel Sans Light" pitchFamily="34" charset="-122"/>
                <a:cs typeface="Martel Sans Light" pitchFamily="34" charset="-120"/>
              </a:rPr>
              <a:t>Align and filter images for clarity.</a:t>
            </a:r>
            <a:endParaRPr lang="en-US" sz="1600" dirty="0"/>
          </a:p>
        </p:txBody>
      </p:sp>
      <p:pic>
        <p:nvPicPr>
          <p:cNvPr id="10" name="Image 3" descr="preencoded.png">    </p:cNvPr>
          <p:cNvPicPr>
            <a:picLocks noChangeAspect="1"/>
          </p:cNvPicPr>
          <p:nvPr/>
        </p:nvPicPr>
        <p:blipFill>
          <a:blip r:embed="rId4"/>
          <a:stretch>
            <a:fillRect/>
          </a:stretch>
        </p:blipFill>
        <p:spPr>
          <a:xfrm>
            <a:off x="721162" y="3954423"/>
            <a:ext cx="1030248" cy="1236345"/>
          </a:xfrm>
          <a:prstGeom prst="rect">
            <a:avLst/>
          </a:prstGeom>
        </p:spPr>
      </p:pic>
      <p:sp>
        <p:nvSpPr>
          <p:cNvPr id="11" name="Text 5"/>
          <p:cNvSpPr/>
          <p:nvPr/>
        </p:nvSpPr>
        <p:spPr>
          <a:xfrm>
            <a:off x="2060496" y="4160401"/>
            <a:ext cx="2424232" cy="303014"/>
          </a:xfrm>
          <a:prstGeom prst="rect">
            <a:avLst/>
          </a:prstGeom>
          <a:noFill/>
          <a:ln/>
        </p:spPr>
        <p:txBody>
          <a:bodyPr wrap="none" lIns="0" tIns="0" rIns="0" bIns="0" rtlCol="0" anchor="t"/>
          <a:lstStyle/>
          <a:p>
            <a:pPr algn="l" indent="0" marL="0">
              <a:lnSpc>
                <a:spcPts val="2350"/>
              </a:lnSpc>
              <a:buNone/>
            </a:pPr>
            <a:r>
              <a:rPr lang="en-US" sz="1900" dirty="0">
                <a:solidFill>
                  <a:srgbClr val="D9E1FF"/>
                </a:solidFill>
                <a:latin typeface="Kanit" pitchFamily="34" charset="0"/>
                <a:ea typeface="Kanit" pitchFamily="34" charset="-122"/>
                <a:cs typeface="Kanit" pitchFamily="34" charset="-120"/>
              </a:rPr>
              <a:t>Feature Extraction</a:t>
            </a:r>
            <a:endParaRPr lang="en-US" sz="1900" dirty="0"/>
          </a:p>
        </p:txBody>
      </p:sp>
      <p:sp>
        <p:nvSpPr>
          <p:cNvPr id="12" name="Text 6"/>
          <p:cNvSpPr/>
          <p:nvPr/>
        </p:nvSpPr>
        <p:spPr>
          <a:xfrm>
            <a:off x="2060496" y="4587002"/>
            <a:ext cx="6362343" cy="329684"/>
          </a:xfrm>
          <a:prstGeom prst="rect">
            <a:avLst/>
          </a:prstGeom>
          <a:noFill/>
          <a:ln/>
        </p:spPr>
        <p:txBody>
          <a:bodyPr wrap="none" lIns="0" tIns="0" rIns="0" bIns="0" rtlCol="0" anchor="t"/>
          <a:lstStyle/>
          <a:p>
            <a:pPr algn="l" indent="0" marL="0">
              <a:lnSpc>
                <a:spcPts val="2550"/>
              </a:lnSpc>
              <a:buNone/>
            </a:pPr>
            <a:r>
              <a:rPr lang="en-US" sz="1600" dirty="0">
                <a:solidFill>
                  <a:srgbClr val="D9E1FF"/>
                </a:solidFill>
                <a:latin typeface="Martel Sans Light" pitchFamily="34" charset="0"/>
                <a:ea typeface="Martel Sans Light" pitchFamily="34" charset="-122"/>
                <a:cs typeface="Martel Sans Light" pitchFamily="34" charset="-120"/>
              </a:rPr>
              <a:t>Deep CNN extracts key currency features.</a:t>
            </a:r>
            <a:endParaRPr lang="en-US" sz="1600" dirty="0"/>
          </a:p>
        </p:txBody>
      </p:sp>
      <p:pic>
        <p:nvPicPr>
          <p:cNvPr id="13" name="Image 4" descr="preencoded.png">    </p:cNvPr>
          <p:cNvPicPr>
            <a:picLocks noChangeAspect="1"/>
          </p:cNvPicPr>
          <p:nvPr/>
        </p:nvPicPr>
        <p:blipFill>
          <a:blip r:embed="rId5"/>
          <a:stretch>
            <a:fillRect/>
          </a:stretch>
        </p:blipFill>
        <p:spPr>
          <a:xfrm>
            <a:off x="721162" y="5190768"/>
            <a:ext cx="1030248" cy="1236345"/>
          </a:xfrm>
          <a:prstGeom prst="rect">
            <a:avLst/>
          </a:prstGeom>
        </p:spPr>
      </p:pic>
      <p:sp>
        <p:nvSpPr>
          <p:cNvPr id="14" name="Text 7"/>
          <p:cNvSpPr/>
          <p:nvPr/>
        </p:nvSpPr>
        <p:spPr>
          <a:xfrm>
            <a:off x="2060496" y="5396746"/>
            <a:ext cx="2424232" cy="303014"/>
          </a:xfrm>
          <a:prstGeom prst="rect">
            <a:avLst/>
          </a:prstGeom>
          <a:noFill/>
          <a:ln/>
        </p:spPr>
        <p:txBody>
          <a:bodyPr wrap="none" lIns="0" tIns="0" rIns="0" bIns="0" rtlCol="0" anchor="t"/>
          <a:lstStyle/>
          <a:p>
            <a:pPr algn="l" indent="0" marL="0">
              <a:lnSpc>
                <a:spcPts val="2350"/>
              </a:lnSpc>
              <a:buNone/>
            </a:pPr>
            <a:r>
              <a:rPr lang="en-US" sz="1900" dirty="0">
                <a:solidFill>
                  <a:srgbClr val="D9E1FF"/>
                </a:solidFill>
                <a:latin typeface="Kanit" pitchFamily="34" charset="0"/>
                <a:ea typeface="Kanit" pitchFamily="34" charset="-122"/>
                <a:cs typeface="Kanit" pitchFamily="34" charset="-120"/>
              </a:rPr>
              <a:t>Classification</a:t>
            </a:r>
            <a:endParaRPr lang="en-US" sz="1900" dirty="0"/>
          </a:p>
        </p:txBody>
      </p:sp>
      <p:sp>
        <p:nvSpPr>
          <p:cNvPr id="15" name="Text 8"/>
          <p:cNvSpPr/>
          <p:nvPr/>
        </p:nvSpPr>
        <p:spPr>
          <a:xfrm>
            <a:off x="2060496" y="5823347"/>
            <a:ext cx="6362343" cy="329684"/>
          </a:xfrm>
          <a:prstGeom prst="rect">
            <a:avLst/>
          </a:prstGeom>
          <a:noFill/>
          <a:ln/>
        </p:spPr>
        <p:txBody>
          <a:bodyPr wrap="none" lIns="0" tIns="0" rIns="0" bIns="0" rtlCol="0" anchor="t"/>
          <a:lstStyle/>
          <a:p>
            <a:pPr algn="l" indent="0" marL="0">
              <a:lnSpc>
                <a:spcPts val="2550"/>
              </a:lnSpc>
              <a:buNone/>
            </a:pPr>
            <a:r>
              <a:rPr lang="en-US" sz="1600" dirty="0">
                <a:solidFill>
                  <a:srgbClr val="D9E1FF"/>
                </a:solidFill>
                <a:latin typeface="Martel Sans Light" pitchFamily="34" charset="0"/>
                <a:ea typeface="Martel Sans Light" pitchFamily="34" charset="-122"/>
                <a:cs typeface="Martel Sans Light" pitchFamily="34" charset="-120"/>
              </a:rPr>
              <a:t>Model predicts real or fake label.</a:t>
            </a:r>
            <a:endParaRPr lang="en-US" sz="1600" dirty="0"/>
          </a:p>
        </p:txBody>
      </p:sp>
      <p:pic>
        <p:nvPicPr>
          <p:cNvPr id="16" name="Image 5" descr="preencoded.png">    </p:cNvPr>
          <p:cNvPicPr>
            <a:picLocks noChangeAspect="1"/>
          </p:cNvPicPr>
          <p:nvPr/>
        </p:nvPicPr>
        <p:blipFill>
          <a:blip r:embed="rId6"/>
          <a:stretch>
            <a:fillRect/>
          </a:stretch>
        </p:blipFill>
        <p:spPr>
          <a:xfrm>
            <a:off x="721162" y="6427113"/>
            <a:ext cx="1030248" cy="1236345"/>
          </a:xfrm>
          <a:prstGeom prst="rect">
            <a:avLst/>
          </a:prstGeom>
        </p:spPr>
      </p:pic>
      <p:sp>
        <p:nvSpPr>
          <p:cNvPr id="17" name="Text 9"/>
          <p:cNvSpPr/>
          <p:nvPr/>
        </p:nvSpPr>
        <p:spPr>
          <a:xfrm>
            <a:off x="2060496" y="6633091"/>
            <a:ext cx="2424232" cy="303014"/>
          </a:xfrm>
          <a:prstGeom prst="rect">
            <a:avLst/>
          </a:prstGeom>
          <a:noFill/>
          <a:ln/>
        </p:spPr>
        <p:txBody>
          <a:bodyPr wrap="none" lIns="0" tIns="0" rIns="0" bIns="0" rtlCol="0" anchor="t"/>
          <a:lstStyle/>
          <a:p>
            <a:pPr algn="l" indent="0" marL="0">
              <a:lnSpc>
                <a:spcPts val="2350"/>
              </a:lnSpc>
              <a:buNone/>
            </a:pPr>
            <a:r>
              <a:rPr lang="en-US" sz="1900" dirty="0">
                <a:solidFill>
                  <a:srgbClr val="D9E1FF"/>
                </a:solidFill>
                <a:latin typeface="Kanit" pitchFamily="34" charset="0"/>
                <a:ea typeface="Kanit" pitchFamily="34" charset="-122"/>
                <a:cs typeface="Kanit" pitchFamily="34" charset="-120"/>
              </a:rPr>
              <a:t>Confidence &amp; UI</a:t>
            </a:r>
            <a:endParaRPr lang="en-US" sz="1900" dirty="0"/>
          </a:p>
        </p:txBody>
      </p:sp>
      <p:sp>
        <p:nvSpPr>
          <p:cNvPr id="18" name="Text 10"/>
          <p:cNvSpPr/>
          <p:nvPr/>
        </p:nvSpPr>
        <p:spPr>
          <a:xfrm>
            <a:off x="2060496" y="7059692"/>
            <a:ext cx="6362343" cy="329684"/>
          </a:xfrm>
          <a:prstGeom prst="rect">
            <a:avLst/>
          </a:prstGeom>
          <a:noFill/>
          <a:ln/>
        </p:spPr>
        <p:txBody>
          <a:bodyPr wrap="none" lIns="0" tIns="0" rIns="0" bIns="0" rtlCol="0" anchor="t"/>
          <a:lstStyle/>
          <a:p>
            <a:pPr algn="l" indent="0" marL="0">
              <a:lnSpc>
                <a:spcPts val="2550"/>
              </a:lnSpc>
              <a:buNone/>
            </a:pPr>
            <a:r>
              <a:rPr lang="en-US" sz="1600" dirty="0">
                <a:solidFill>
                  <a:srgbClr val="D9E1FF"/>
                </a:solidFill>
                <a:latin typeface="Martel Sans Light" pitchFamily="34" charset="0"/>
                <a:ea typeface="Martel Sans Light" pitchFamily="34" charset="-122"/>
                <a:cs typeface="Martel Sans Light" pitchFamily="34" charset="-120"/>
              </a:rPr>
              <a:t>Score displayed on user interface.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5568" y="577929"/>
            <a:ext cx="4945499" cy="618173"/>
          </a:xfrm>
          <a:prstGeom prst="rect">
            <a:avLst/>
          </a:prstGeom>
          <a:noFill/>
          <a:ln/>
        </p:spPr>
        <p:txBody>
          <a:bodyPr wrap="none" lIns="0" tIns="0" rIns="0" bIns="0" rtlCol="0" anchor="t"/>
          <a:lstStyle/>
          <a:p>
            <a:pPr algn="l" indent="0" marL="0">
              <a:lnSpc>
                <a:spcPts val="4850"/>
              </a:lnSpc>
              <a:buNone/>
            </a:pPr>
            <a:r>
              <a:rPr lang="en-US" sz="3850" dirty="0">
                <a:solidFill>
                  <a:srgbClr val="FFFFFF"/>
                </a:solidFill>
                <a:latin typeface="Kanit" pitchFamily="34" charset="0"/>
                <a:ea typeface="Kanit" pitchFamily="34" charset="-122"/>
                <a:cs typeface="Kanit" pitchFamily="34" charset="-120"/>
              </a:rPr>
              <a:t>Dataset Preparation</a:t>
            </a:r>
            <a:endParaRPr lang="en-US" sz="3850" dirty="0"/>
          </a:p>
        </p:txBody>
      </p:sp>
      <p:sp>
        <p:nvSpPr>
          <p:cNvPr id="3" name="Text 1"/>
          <p:cNvSpPr/>
          <p:nvPr/>
        </p:nvSpPr>
        <p:spPr>
          <a:xfrm>
            <a:off x="735568" y="1721525"/>
            <a:ext cx="2472690" cy="309086"/>
          </a:xfrm>
          <a:prstGeom prst="rect">
            <a:avLst/>
          </a:prstGeom>
          <a:noFill/>
          <a:ln/>
        </p:spPr>
        <p:txBody>
          <a:bodyPr wrap="none" lIns="0" tIns="0" rIns="0" bIns="0" rtlCol="0" anchor="t"/>
          <a:lstStyle/>
          <a:p>
            <a:pPr algn="l" indent="0" marL="0">
              <a:lnSpc>
                <a:spcPts val="2400"/>
              </a:lnSpc>
              <a:buNone/>
            </a:pPr>
            <a:r>
              <a:rPr lang="en-US" sz="1900" dirty="0">
                <a:solidFill>
                  <a:srgbClr val="FFFFFF"/>
                </a:solidFill>
                <a:latin typeface="Kanit" pitchFamily="34" charset="0"/>
                <a:ea typeface="Kanit" pitchFamily="34" charset="-122"/>
                <a:cs typeface="Kanit" pitchFamily="34" charset="-120"/>
              </a:rPr>
              <a:t>Structure</a:t>
            </a:r>
            <a:endParaRPr lang="en-US" sz="1900" dirty="0"/>
          </a:p>
        </p:txBody>
      </p:sp>
      <p:sp>
        <p:nvSpPr>
          <p:cNvPr id="4" name="Text 2"/>
          <p:cNvSpPr/>
          <p:nvPr/>
        </p:nvSpPr>
        <p:spPr>
          <a:xfrm>
            <a:off x="735568" y="2240756"/>
            <a:ext cx="4044077" cy="672465"/>
          </a:xfrm>
          <a:prstGeom prst="rect">
            <a:avLst/>
          </a:prstGeom>
          <a:noFill/>
          <a:ln/>
        </p:spPr>
        <p:txBody>
          <a:bodyPr wrap="square" lIns="0" tIns="0" rIns="0" bIns="0" rtlCol="0" anchor="t"/>
          <a:lstStyle/>
          <a:p>
            <a:pPr algn="l" indent="0" marL="0">
              <a:lnSpc>
                <a:spcPts val="2600"/>
              </a:lnSpc>
              <a:buNone/>
            </a:pPr>
            <a:r>
              <a:rPr lang="en-US" sz="1650" dirty="0">
                <a:solidFill>
                  <a:srgbClr val="D9E1FF"/>
                </a:solidFill>
                <a:latin typeface="Martel Sans Light" pitchFamily="34" charset="0"/>
                <a:ea typeface="Martel Sans Light" pitchFamily="34" charset="-122"/>
                <a:cs typeface="Martel Sans Light" pitchFamily="34" charset="-120"/>
              </a:rPr>
              <a:t>Organized into folders by denomination and authenticity for efficient processing.</a:t>
            </a:r>
            <a:endParaRPr lang="en-US" sz="1650" dirty="0"/>
          </a:p>
        </p:txBody>
      </p:sp>
      <p:sp>
        <p:nvSpPr>
          <p:cNvPr id="5" name="Text 3"/>
          <p:cNvSpPr/>
          <p:nvPr/>
        </p:nvSpPr>
        <p:spPr>
          <a:xfrm>
            <a:off x="735568" y="3102293"/>
            <a:ext cx="4044077" cy="672465"/>
          </a:xfrm>
          <a:prstGeom prst="rect">
            <a:avLst/>
          </a:prstGeom>
          <a:noFill/>
          <a:ln/>
        </p:spPr>
        <p:txBody>
          <a:bodyPr wrap="square" lIns="0" tIns="0" rIns="0" bIns="0" rtlCol="0" anchor="t"/>
          <a:lstStyle/>
          <a:p>
            <a:pPr algn="l" indent="0" marL="0">
              <a:lnSpc>
                <a:spcPts val="2600"/>
              </a:lnSpc>
              <a:buNone/>
            </a:pPr>
            <a:r>
              <a:rPr lang="en-US" sz="1650" dirty="0">
                <a:solidFill>
                  <a:srgbClr val="D9E1FF"/>
                </a:solidFill>
                <a:latin typeface="Martel Sans Light" pitchFamily="34" charset="0"/>
                <a:ea typeface="Martel Sans Light" pitchFamily="34" charset="-122"/>
                <a:cs typeface="Martel Sans Light" pitchFamily="34" charset="-120"/>
              </a:rPr>
              <a:t>Each folder contains images labeled as either genuine or fake notes.</a:t>
            </a:r>
            <a:endParaRPr lang="en-US" sz="1650" dirty="0"/>
          </a:p>
        </p:txBody>
      </p:sp>
      <p:sp>
        <p:nvSpPr>
          <p:cNvPr id="6" name="Text 4"/>
          <p:cNvSpPr/>
          <p:nvPr/>
        </p:nvSpPr>
        <p:spPr>
          <a:xfrm>
            <a:off x="735568" y="3963829"/>
            <a:ext cx="4044077" cy="672465"/>
          </a:xfrm>
          <a:prstGeom prst="rect">
            <a:avLst/>
          </a:prstGeom>
          <a:noFill/>
          <a:ln/>
        </p:spPr>
        <p:txBody>
          <a:bodyPr wrap="square" lIns="0" tIns="0" rIns="0" bIns="0" rtlCol="0" anchor="t"/>
          <a:lstStyle/>
          <a:p>
            <a:pPr algn="l" indent="0" marL="0">
              <a:lnSpc>
                <a:spcPts val="2600"/>
              </a:lnSpc>
              <a:buNone/>
            </a:pPr>
            <a:r>
              <a:rPr lang="en-US" sz="1650" dirty="0">
                <a:solidFill>
                  <a:srgbClr val="D9E1FF"/>
                </a:solidFill>
                <a:latin typeface="Martel Sans Light" pitchFamily="34" charset="0"/>
                <a:ea typeface="Martel Sans Light" pitchFamily="34" charset="-122"/>
                <a:cs typeface="Martel Sans Light" pitchFamily="34" charset="-120"/>
              </a:rPr>
              <a:t>This hierarchy enables easy access and balanced sampling during training.</a:t>
            </a:r>
            <a:endParaRPr lang="en-US" sz="1650" dirty="0"/>
          </a:p>
        </p:txBody>
      </p:sp>
      <p:sp>
        <p:nvSpPr>
          <p:cNvPr id="7" name="Text 5"/>
          <p:cNvSpPr/>
          <p:nvPr/>
        </p:nvSpPr>
        <p:spPr>
          <a:xfrm>
            <a:off x="5299948" y="1721525"/>
            <a:ext cx="2472690" cy="309086"/>
          </a:xfrm>
          <a:prstGeom prst="rect">
            <a:avLst/>
          </a:prstGeom>
          <a:noFill/>
          <a:ln/>
        </p:spPr>
        <p:txBody>
          <a:bodyPr wrap="none" lIns="0" tIns="0" rIns="0" bIns="0" rtlCol="0" anchor="t"/>
          <a:lstStyle/>
          <a:p>
            <a:pPr algn="l" indent="0" marL="0">
              <a:lnSpc>
                <a:spcPts val="2400"/>
              </a:lnSpc>
              <a:buNone/>
            </a:pPr>
            <a:r>
              <a:rPr lang="en-US" sz="1900" dirty="0">
                <a:solidFill>
                  <a:srgbClr val="FFFFFF"/>
                </a:solidFill>
                <a:latin typeface="Kanit" pitchFamily="34" charset="0"/>
                <a:ea typeface="Kanit" pitchFamily="34" charset="-122"/>
                <a:cs typeface="Kanit" pitchFamily="34" charset="-120"/>
              </a:rPr>
              <a:t>Sources</a:t>
            </a:r>
            <a:endParaRPr lang="en-US" sz="1900" dirty="0"/>
          </a:p>
        </p:txBody>
      </p:sp>
      <p:sp>
        <p:nvSpPr>
          <p:cNvPr id="8" name="Text 6"/>
          <p:cNvSpPr/>
          <p:nvPr/>
        </p:nvSpPr>
        <p:spPr>
          <a:xfrm>
            <a:off x="5299948" y="2240756"/>
            <a:ext cx="4044077" cy="1008698"/>
          </a:xfrm>
          <a:prstGeom prst="rect">
            <a:avLst/>
          </a:prstGeom>
          <a:noFill/>
          <a:ln/>
        </p:spPr>
        <p:txBody>
          <a:bodyPr wrap="square" lIns="0" tIns="0" rIns="0" bIns="0" rtlCol="0" anchor="t"/>
          <a:lstStyle/>
          <a:p>
            <a:pPr algn="l" indent="0" marL="0">
              <a:lnSpc>
                <a:spcPts val="2600"/>
              </a:lnSpc>
              <a:buNone/>
            </a:pPr>
            <a:r>
              <a:rPr lang="en-US" sz="1650" dirty="0">
                <a:solidFill>
                  <a:srgbClr val="D9E1FF"/>
                </a:solidFill>
                <a:latin typeface="Martel Sans Light" pitchFamily="34" charset="0"/>
                <a:ea typeface="Martel Sans Light" pitchFamily="34" charset="-122"/>
                <a:cs typeface="Martel Sans Light" pitchFamily="34" charset="-120"/>
              </a:rPr>
              <a:t>Collected from publicly available currency image datasets to ensure diversity.</a:t>
            </a:r>
            <a:endParaRPr lang="en-US" sz="1650" dirty="0"/>
          </a:p>
        </p:txBody>
      </p:sp>
      <p:sp>
        <p:nvSpPr>
          <p:cNvPr id="9" name="Text 7"/>
          <p:cNvSpPr/>
          <p:nvPr/>
        </p:nvSpPr>
        <p:spPr>
          <a:xfrm>
            <a:off x="5299948" y="3438525"/>
            <a:ext cx="4044077" cy="1008698"/>
          </a:xfrm>
          <a:prstGeom prst="rect">
            <a:avLst/>
          </a:prstGeom>
          <a:noFill/>
          <a:ln/>
        </p:spPr>
        <p:txBody>
          <a:bodyPr wrap="square" lIns="0" tIns="0" rIns="0" bIns="0" rtlCol="0" anchor="t"/>
          <a:lstStyle/>
          <a:p>
            <a:pPr algn="l" indent="0" marL="0">
              <a:lnSpc>
                <a:spcPts val="2600"/>
              </a:lnSpc>
              <a:buNone/>
            </a:pPr>
            <a:r>
              <a:rPr lang="en-US" sz="1650" dirty="0">
                <a:solidFill>
                  <a:srgbClr val="D9E1FF"/>
                </a:solidFill>
                <a:latin typeface="Martel Sans Light" pitchFamily="34" charset="0"/>
                <a:ea typeface="Martel Sans Light" pitchFamily="34" charset="-122"/>
                <a:cs typeface="Martel Sans Light" pitchFamily="34" charset="-120"/>
              </a:rPr>
              <a:t>Manual labeling was performed by experts to ensure data accuracy and reliability.</a:t>
            </a:r>
            <a:endParaRPr lang="en-US" sz="1650" dirty="0"/>
          </a:p>
        </p:txBody>
      </p:sp>
      <p:sp>
        <p:nvSpPr>
          <p:cNvPr id="10" name="Text 8"/>
          <p:cNvSpPr/>
          <p:nvPr/>
        </p:nvSpPr>
        <p:spPr>
          <a:xfrm>
            <a:off x="5299948" y="4636294"/>
            <a:ext cx="4044077" cy="1008698"/>
          </a:xfrm>
          <a:prstGeom prst="rect">
            <a:avLst/>
          </a:prstGeom>
          <a:noFill/>
          <a:ln/>
        </p:spPr>
        <p:txBody>
          <a:bodyPr wrap="square" lIns="0" tIns="0" rIns="0" bIns="0" rtlCol="0" anchor="t"/>
          <a:lstStyle/>
          <a:p>
            <a:pPr algn="l" indent="0" marL="0">
              <a:lnSpc>
                <a:spcPts val="2600"/>
              </a:lnSpc>
              <a:buNone/>
            </a:pPr>
            <a:r>
              <a:rPr lang="en-US" sz="1650" dirty="0">
                <a:solidFill>
                  <a:srgbClr val="D9E1FF"/>
                </a:solidFill>
                <a:latin typeface="Martel Sans Light" pitchFamily="34" charset="0"/>
                <a:ea typeface="Martel Sans Light" pitchFamily="34" charset="-122"/>
                <a:cs typeface="Martel Sans Light" pitchFamily="34" charset="-120"/>
              </a:rPr>
              <a:t>Additionally, self-curated images were captured using scanners and mobile cameras under various settings.</a:t>
            </a:r>
            <a:endParaRPr lang="en-US" sz="1650" dirty="0"/>
          </a:p>
        </p:txBody>
      </p:sp>
      <p:sp>
        <p:nvSpPr>
          <p:cNvPr id="11" name="Text 9"/>
          <p:cNvSpPr/>
          <p:nvPr/>
        </p:nvSpPr>
        <p:spPr>
          <a:xfrm>
            <a:off x="9864328" y="1721525"/>
            <a:ext cx="2472690" cy="309086"/>
          </a:xfrm>
          <a:prstGeom prst="rect">
            <a:avLst/>
          </a:prstGeom>
          <a:noFill/>
          <a:ln/>
        </p:spPr>
        <p:txBody>
          <a:bodyPr wrap="none" lIns="0" tIns="0" rIns="0" bIns="0" rtlCol="0" anchor="t"/>
          <a:lstStyle/>
          <a:p>
            <a:pPr algn="l" indent="0" marL="0">
              <a:lnSpc>
                <a:spcPts val="2400"/>
              </a:lnSpc>
              <a:buNone/>
            </a:pPr>
            <a:r>
              <a:rPr lang="en-US" sz="1900" dirty="0">
                <a:solidFill>
                  <a:srgbClr val="FFFFFF"/>
                </a:solidFill>
                <a:latin typeface="Kanit" pitchFamily="34" charset="0"/>
                <a:ea typeface="Kanit" pitchFamily="34" charset="-122"/>
                <a:cs typeface="Kanit" pitchFamily="34" charset="-120"/>
              </a:rPr>
              <a:t>Challenges</a:t>
            </a:r>
            <a:endParaRPr lang="en-US" sz="1900" dirty="0"/>
          </a:p>
        </p:txBody>
      </p:sp>
      <p:sp>
        <p:nvSpPr>
          <p:cNvPr id="12" name="Text 10"/>
          <p:cNvSpPr/>
          <p:nvPr/>
        </p:nvSpPr>
        <p:spPr>
          <a:xfrm>
            <a:off x="9864328" y="2240756"/>
            <a:ext cx="4044077" cy="1008698"/>
          </a:xfrm>
          <a:prstGeom prst="rect">
            <a:avLst/>
          </a:prstGeom>
          <a:noFill/>
          <a:ln/>
        </p:spPr>
        <p:txBody>
          <a:bodyPr wrap="square" lIns="0" tIns="0" rIns="0" bIns="0" rtlCol="0" anchor="t"/>
          <a:lstStyle/>
          <a:p>
            <a:pPr algn="l" marL="342900" indent="-342900">
              <a:lnSpc>
                <a:spcPts val="2600"/>
              </a:lnSpc>
              <a:buSzPct val="100000"/>
              <a:buChar char="•"/>
            </a:pPr>
            <a:r>
              <a:rPr lang="en-US" sz="1650" dirty="0">
                <a:solidFill>
                  <a:srgbClr val="D9E1FF"/>
                </a:solidFill>
                <a:latin typeface="Martel Sans Light" pitchFamily="34" charset="0"/>
                <a:ea typeface="Martel Sans Light" pitchFamily="34" charset="-122"/>
                <a:cs typeface="Martel Sans Light" pitchFamily="34" charset="-120"/>
              </a:rPr>
              <a:t>Class imbalance due to fewer counterfeit samples compared to genuine notes.</a:t>
            </a:r>
            <a:endParaRPr lang="en-US" sz="1650" dirty="0"/>
          </a:p>
        </p:txBody>
      </p:sp>
      <p:sp>
        <p:nvSpPr>
          <p:cNvPr id="13" name="Text 11"/>
          <p:cNvSpPr/>
          <p:nvPr/>
        </p:nvSpPr>
        <p:spPr>
          <a:xfrm>
            <a:off x="9864328" y="3322915"/>
            <a:ext cx="4044077" cy="1008698"/>
          </a:xfrm>
          <a:prstGeom prst="rect">
            <a:avLst/>
          </a:prstGeom>
          <a:noFill/>
          <a:ln/>
        </p:spPr>
        <p:txBody>
          <a:bodyPr wrap="square" lIns="0" tIns="0" rIns="0" bIns="0" rtlCol="0" anchor="t"/>
          <a:lstStyle/>
          <a:p>
            <a:pPr algn="l" marL="342900" indent="-342900">
              <a:lnSpc>
                <a:spcPts val="2600"/>
              </a:lnSpc>
              <a:buSzPct val="100000"/>
              <a:buChar char="•"/>
            </a:pPr>
            <a:r>
              <a:rPr lang="en-US" sz="1650" dirty="0">
                <a:solidFill>
                  <a:srgbClr val="D9E1FF"/>
                </a:solidFill>
                <a:latin typeface="Martel Sans Light" pitchFamily="34" charset="0"/>
                <a:ea typeface="Martel Sans Light" pitchFamily="34" charset="-122"/>
                <a:cs typeface="Martel Sans Light" pitchFamily="34" charset="-120"/>
              </a:rPr>
              <a:t>Variations in lighting conditions affect image quality and feature detection.</a:t>
            </a:r>
            <a:endParaRPr lang="en-US" sz="1650" dirty="0"/>
          </a:p>
        </p:txBody>
      </p:sp>
      <p:sp>
        <p:nvSpPr>
          <p:cNvPr id="14" name="Text 12"/>
          <p:cNvSpPr/>
          <p:nvPr/>
        </p:nvSpPr>
        <p:spPr>
          <a:xfrm>
            <a:off x="9864328" y="4405074"/>
            <a:ext cx="4044077" cy="1008698"/>
          </a:xfrm>
          <a:prstGeom prst="rect">
            <a:avLst/>
          </a:prstGeom>
          <a:noFill/>
          <a:ln/>
        </p:spPr>
        <p:txBody>
          <a:bodyPr wrap="square" lIns="0" tIns="0" rIns="0" bIns="0" rtlCol="0" anchor="t"/>
          <a:lstStyle/>
          <a:p>
            <a:pPr algn="l" marL="342900" indent="-342900">
              <a:lnSpc>
                <a:spcPts val="2600"/>
              </a:lnSpc>
              <a:buSzPct val="100000"/>
              <a:buChar char="•"/>
            </a:pPr>
            <a:r>
              <a:rPr lang="en-US" sz="1650" dirty="0">
                <a:solidFill>
                  <a:srgbClr val="D9E1FF"/>
                </a:solidFill>
                <a:latin typeface="Martel Sans Light" pitchFamily="34" charset="0"/>
                <a:ea typeface="Martel Sans Light" pitchFamily="34" charset="-122"/>
                <a:cs typeface="Martel Sans Light" pitchFamily="34" charset="-120"/>
              </a:rPr>
              <a:t>Background noise and clutter in some images introduce additional complexity.</a:t>
            </a:r>
            <a:endParaRPr lang="en-US" sz="1650" dirty="0"/>
          </a:p>
        </p:txBody>
      </p:sp>
      <p:sp>
        <p:nvSpPr>
          <p:cNvPr id="15" name="Text 13"/>
          <p:cNvSpPr/>
          <p:nvPr/>
        </p:nvSpPr>
        <p:spPr>
          <a:xfrm>
            <a:off x="9864328" y="5487233"/>
            <a:ext cx="4044077" cy="1008698"/>
          </a:xfrm>
          <a:prstGeom prst="rect">
            <a:avLst/>
          </a:prstGeom>
          <a:noFill/>
          <a:ln/>
        </p:spPr>
        <p:txBody>
          <a:bodyPr wrap="square" lIns="0" tIns="0" rIns="0" bIns="0" rtlCol="0" anchor="t"/>
          <a:lstStyle/>
          <a:p>
            <a:pPr algn="l" marL="342900" indent="-342900">
              <a:lnSpc>
                <a:spcPts val="2600"/>
              </a:lnSpc>
              <a:buSzPct val="100000"/>
              <a:buChar char="•"/>
            </a:pPr>
            <a:r>
              <a:rPr lang="en-US" sz="1650" dirty="0">
                <a:solidFill>
                  <a:srgbClr val="D9E1FF"/>
                </a:solidFill>
                <a:latin typeface="Martel Sans Light" pitchFamily="34" charset="0"/>
                <a:ea typeface="Martel Sans Light" pitchFamily="34" charset="-122"/>
                <a:cs typeface="Martel Sans Light" pitchFamily="34" charset="-120"/>
              </a:rPr>
              <a:t>Ensuring consistency in image resolution and aspect ratio across datasets.</a:t>
            </a:r>
            <a:endParaRPr lang="en-US" sz="1650" dirty="0"/>
          </a:p>
        </p:txBody>
      </p:sp>
      <p:sp>
        <p:nvSpPr>
          <p:cNvPr id="16" name="Text 14"/>
          <p:cNvSpPr/>
          <p:nvPr/>
        </p:nvSpPr>
        <p:spPr>
          <a:xfrm>
            <a:off x="9864328" y="6569393"/>
            <a:ext cx="4044077" cy="1008698"/>
          </a:xfrm>
          <a:prstGeom prst="rect">
            <a:avLst/>
          </a:prstGeom>
          <a:noFill/>
          <a:ln/>
        </p:spPr>
        <p:txBody>
          <a:bodyPr wrap="square" lIns="0" tIns="0" rIns="0" bIns="0" rtlCol="0" anchor="t"/>
          <a:lstStyle/>
          <a:p>
            <a:pPr algn="l" marL="342900" indent="-342900">
              <a:lnSpc>
                <a:spcPts val="2600"/>
              </a:lnSpc>
              <a:buSzPct val="100000"/>
              <a:buChar char="•"/>
            </a:pPr>
            <a:r>
              <a:rPr lang="en-US" sz="1650" dirty="0">
                <a:solidFill>
                  <a:srgbClr val="D9E1FF"/>
                </a:solidFill>
                <a:latin typeface="Martel Sans Light" pitchFamily="34" charset="0"/>
                <a:ea typeface="Martel Sans Light" pitchFamily="34" charset="-122"/>
                <a:cs typeface="Martel Sans Light" pitchFamily="34" charset="-120"/>
              </a:rPr>
              <a:t>Maintaining up-to-date datasets to include newly emerging counterfeit designs.</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42818" y="506373"/>
            <a:ext cx="4321969" cy="540187"/>
          </a:xfrm>
          <a:prstGeom prst="rect">
            <a:avLst/>
          </a:prstGeom>
          <a:noFill/>
          <a:ln/>
        </p:spPr>
        <p:txBody>
          <a:bodyPr wrap="none" lIns="0" tIns="0" rIns="0" bIns="0" rtlCol="0" anchor="t"/>
          <a:lstStyle/>
          <a:p>
            <a:pPr algn="l" indent="0" marL="0">
              <a:lnSpc>
                <a:spcPts val="4250"/>
              </a:lnSpc>
              <a:buNone/>
            </a:pPr>
            <a:r>
              <a:rPr lang="en-US" sz="3400" dirty="0">
                <a:solidFill>
                  <a:srgbClr val="FFFFFF"/>
                </a:solidFill>
                <a:latin typeface="Kanit" pitchFamily="34" charset="0"/>
                <a:ea typeface="Kanit" pitchFamily="34" charset="-122"/>
                <a:cs typeface="Kanit" pitchFamily="34" charset="-120"/>
              </a:rPr>
              <a:t>Image Preprocessing</a:t>
            </a:r>
            <a:endParaRPr lang="en-US" sz="3400" dirty="0"/>
          </a:p>
        </p:txBody>
      </p:sp>
      <p:sp>
        <p:nvSpPr>
          <p:cNvPr id="4" name="Shape 1"/>
          <p:cNvSpPr/>
          <p:nvPr/>
        </p:nvSpPr>
        <p:spPr>
          <a:xfrm>
            <a:off x="642818" y="1322070"/>
            <a:ext cx="413266" cy="413266"/>
          </a:xfrm>
          <a:prstGeom prst="roundRect">
            <a:avLst>
              <a:gd name="adj" fmla="val 6667"/>
            </a:avLst>
          </a:prstGeom>
          <a:solidFill>
            <a:srgbClr val="2F2B54"/>
          </a:solidFill>
          <a:ln/>
        </p:spPr>
      </p:sp>
      <p:sp>
        <p:nvSpPr>
          <p:cNvPr id="5" name="Text 2"/>
          <p:cNvSpPr/>
          <p:nvPr/>
        </p:nvSpPr>
        <p:spPr>
          <a:xfrm>
            <a:off x="1239679" y="1385173"/>
            <a:ext cx="2160984" cy="270034"/>
          </a:xfrm>
          <a:prstGeom prst="rect">
            <a:avLst/>
          </a:prstGeom>
          <a:noFill/>
          <a:ln/>
        </p:spPr>
        <p:txBody>
          <a:bodyPr wrap="none" lIns="0" tIns="0" rIns="0" bIns="0" rtlCol="0" anchor="t"/>
          <a:lstStyle/>
          <a:p>
            <a:pPr algn="l" indent="0" marL="0">
              <a:lnSpc>
                <a:spcPts val="2100"/>
              </a:lnSpc>
              <a:buNone/>
            </a:pPr>
            <a:r>
              <a:rPr lang="en-US" sz="1700" dirty="0">
                <a:solidFill>
                  <a:srgbClr val="D9E1FF"/>
                </a:solidFill>
                <a:latin typeface="Kanit" pitchFamily="34" charset="0"/>
                <a:ea typeface="Kanit" pitchFamily="34" charset="-122"/>
                <a:cs typeface="Kanit" pitchFamily="34" charset="-120"/>
              </a:rPr>
              <a:t>Resize &amp; Convert</a:t>
            </a:r>
            <a:endParaRPr lang="en-US" sz="1700" dirty="0"/>
          </a:p>
        </p:txBody>
      </p:sp>
      <p:sp>
        <p:nvSpPr>
          <p:cNvPr id="6" name="Text 3"/>
          <p:cNvSpPr/>
          <p:nvPr/>
        </p:nvSpPr>
        <p:spPr>
          <a:xfrm>
            <a:off x="1239679" y="1765340"/>
            <a:ext cx="7261503" cy="881539"/>
          </a:xfrm>
          <a:prstGeom prst="rect">
            <a:avLst/>
          </a:prstGeom>
          <a:noFill/>
          <a:ln/>
        </p:spPr>
        <p:txBody>
          <a:bodyPr wrap="square" lIns="0" tIns="0" rIns="0" bIns="0" rtlCol="0" anchor="t"/>
          <a:lstStyle/>
          <a:p>
            <a:pPr algn="l" indent="0" marL="0">
              <a:lnSpc>
                <a:spcPts val="2300"/>
              </a:lnSpc>
              <a:buNone/>
            </a:pPr>
            <a:r>
              <a:rPr lang="en-US" sz="1400" dirty="0">
                <a:solidFill>
                  <a:srgbClr val="D9E1FF"/>
                </a:solidFill>
                <a:latin typeface="Martel Sans Light" pitchFamily="34" charset="0"/>
                <a:ea typeface="Martel Sans Light" pitchFamily="34" charset="-122"/>
                <a:cs typeface="Martel Sans Light" pitchFamily="34" charset="-120"/>
              </a:rPr>
              <a:t>Each input image is resized to a fixed dimension of 224×224 pixels to maintain uniformity across the dataset. Optionally, images are converted to grayscale to reduce computational complexity while preserving essential features.</a:t>
            </a:r>
            <a:endParaRPr lang="en-US" sz="1400" dirty="0"/>
          </a:p>
        </p:txBody>
      </p:sp>
      <p:sp>
        <p:nvSpPr>
          <p:cNvPr id="7" name="Shape 4"/>
          <p:cNvSpPr/>
          <p:nvPr/>
        </p:nvSpPr>
        <p:spPr>
          <a:xfrm>
            <a:off x="642818" y="3014186"/>
            <a:ext cx="413266" cy="413266"/>
          </a:xfrm>
          <a:prstGeom prst="roundRect">
            <a:avLst>
              <a:gd name="adj" fmla="val 6667"/>
            </a:avLst>
          </a:prstGeom>
          <a:solidFill>
            <a:srgbClr val="2F2B54"/>
          </a:solidFill>
          <a:ln/>
        </p:spPr>
      </p:sp>
      <p:sp>
        <p:nvSpPr>
          <p:cNvPr id="8" name="Text 5"/>
          <p:cNvSpPr/>
          <p:nvPr/>
        </p:nvSpPr>
        <p:spPr>
          <a:xfrm>
            <a:off x="1239679" y="3077289"/>
            <a:ext cx="2160984" cy="270034"/>
          </a:xfrm>
          <a:prstGeom prst="rect">
            <a:avLst/>
          </a:prstGeom>
          <a:noFill/>
          <a:ln/>
        </p:spPr>
        <p:txBody>
          <a:bodyPr wrap="none" lIns="0" tIns="0" rIns="0" bIns="0" rtlCol="0" anchor="t"/>
          <a:lstStyle/>
          <a:p>
            <a:pPr algn="l" indent="0" marL="0">
              <a:lnSpc>
                <a:spcPts val="2100"/>
              </a:lnSpc>
              <a:buNone/>
            </a:pPr>
            <a:r>
              <a:rPr lang="en-US" sz="1700" dirty="0">
                <a:solidFill>
                  <a:srgbClr val="D9E1FF"/>
                </a:solidFill>
                <a:latin typeface="Kanit" pitchFamily="34" charset="0"/>
                <a:ea typeface="Kanit" pitchFamily="34" charset="-122"/>
                <a:cs typeface="Kanit" pitchFamily="34" charset="-120"/>
              </a:rPr>
              <a:t>Noise Reduction</a:t>
            </a:r>
            <a:endParaRPr lang="en-US" sz="1700" dirty="0"/>
          </a:p>
        </p:txBody>
      </p:sp>
      <p:sp>
        <p:nvSpPr>
          <p:cNvPr id="9" name="Text 6"/>
          <p:cNvSpPr/>
          <p:nvPr/>
        </p:nvSpPr>
        <p:spPr>
          <a:xfrm>
            <a:off x="1239679" y="3457456"/>
            <a:ext cx="7261503" cy="881539"/>
          </a:xfrm>
          <a:prstGeom prst="rect">
            <a:avLst/>
          </a:prstGeom>
          <a:noFill/>
          <a:ln/>
        </p:spPr>
        <p:txBody>
          <a:bodyPr wrap="square" lIns="0" tIns="0" rIns="0" bIns="0" rtlCol="0" anchor="t"/>
          <a:lstStyle/>
          <a:p>
            <a:pPr algn="l" indent="0" marL="0">
              <a:lnSpc>
                <a:spcPts val="2300"/>
              </a:lnSpc>
              <a:buNone/>
            </a:pPr>
            <a:r>
              <a:rPr lang="en-US" sz="1400" dirty="0">
                <a:solidFill>
                  <a:srgbClr val="D9E1FF"/>
                </a:solidFill>
                <a:latin typeface="Martel Sans Light" pitchFamily="34" charset="0"/>
                <a:ea typeface="Martel Sans Light" pitchFamily="34" charset="-122"/>
                <a:cs typeface="Martel Sans Light" pitchFamily="34" charset="-120"/>
              </a:rPr>
              <a:t>To enhance image quality, noise reduction techniques such as Gaussian blur and median filtering are applied. These filters help smooth the image by removing unwanted noise and preserving important edges.</a:t>
            </a:r>
            <a:endParaRPr lang="en-US" sz="1400" dirty="0"/>
          </a:p>
        </p:txBody>
      </p:sp>
      <p:sp>
        <p:nvSpPr>
          <p:cNvPr id="10" name="Shape 7"/>
          <p:cNvSpPr/>
          <p:nvPr/>
        </p:nvSpPr>
        <p:spPr>
          <a:xfrm>
            <a:off x="642818" y="4706303"/>
            <a:ext cx="413266" cy="413266"/>
          </a:xfrm>
          <a:prstGeom prst="roundRect">
            <a:avLst>
              <a:gd name="adj" fmla="val 6667"/>
            </a:avLst>
          </a:prstGeom>
          <a:solidFill>
            <a:srgbClr val="2F2B54"/>
          </a:solidFill>
          <a:ln/>
        </p:spPr>
      </p:sp>
      <p:sp>
        <p:nvSpPr>
          <p:cNvPr id="11" name="Text 8"/>
          <p:cNvSpPr/>
          <p:nvPr/>
        </p:nvSpPr>
        <p:spPr>
          <a:xfrm>
            <a:off x="1239679" y="4769406"/>
            <a:ext cx="2160984" cy="270034"/>
          </a:xfrm>
          <a:prstGeom prst="rect">
            <a:avLst/>
          </a:prstGeom>
          <a:noFill/>
          <a:ln/>
        </p:spPr>
        <p:txBody>
          <a:bodyPr wrap="none" lIns="0" tIns="0" rIns="0" bIns="0" rtlCol="0" anchor="t"/>
          <a:lstStyle/>
          <a:p>
            <a:pPr algn="l" indent="0" marL="0">
              <a:lnSpc>
                <a:spcPts val="2100"/>
              </a:lnSpc>
              <a:buNone/>
            </a:pPr>
            <a:r>
              <a:rPr lang="en-US" sz="1700" dirty="0">
                <a:solidFill>
                  <a:srgbClr val="D9E1FF"/>
                </a:solidFill>
                <a:latin typeface="Kanit" pitchFamily="34" charset="0"/>
                <a:ea typeface="Kanit" pitchFamily="34" charset="-122"/>
                <a:cs typeface="Kanit" pitchFamily="34" charset="-120"/>
              </a:rPr>
              <a:t>Data Augmentation</a:t>
            </a:r>
            <a:endParaRPr lang="en-US" sz="1700" dirty="0"/>
          </a:p>
        </p:txBody>
      </p:sp>
      <p:sp>
        <p:nvSpPr>
          <p:cNvPr id="12" name="Text 9"/>
          <p:cNvSpPr/>
          <p:nvPr/>
        </p:nvSpPr>
        <p:spPr>
          <a:xfrm>
            <a:off x="1239679" y="5149572"/>
            <a:ext cx="7261503" cy="881539"/>
          </a:xfrm>
          <a:prstGeom prst="rect">
            <a:avLst/>
          </a:prstGeom>
          <a:noFill/>
          <a:ln/>
        </p:spPr>
        <p:txBody>
          <a:bodyPr wrap="square" lIns="0" tIns="0" rIns="0" bIns="0" rtlCol="0" anchor="t"/>
          <a:lstStyle/>
          <a:p>
            <a:pPr algn="l" indent="0" marL="0">
              <a:lnSpc>
                <a:spcPts val="2300"/>
              </a:lnSpc>
              <a:buNone/>
            </a:pPr>
            <a:r>
              <a:rPr lang="en-US" sz="1400" dirty="0">
                <a:solidFill>
                  <a:srgbClr val="D9E1FF"/>
                </a:solidFill>
                <a:latin typeface="Martel Sans Light" pitchFamily="34" charset="0"/>
                <a:ea typeface="Martel Sans Light" pitchFamily="34" charset="-122"/>
                <a:cs typeface="Martel Sans Light" pitchFamily="34" charset="-120"/>
              </a:rPr>
              <a:t>Various data augmentation methods including rotation, zooming, and brightness adjustments are used to artificially expand the dataset. This increases model robustness by simulating real-world variations in banknote appearance.</a:t>
            </a:r>
            <a:endParaRPr lang="en-US" sz="1400" dirty="0"/>
          </a:p>
        </p:txBody>
      </p:sp>
      <p:sp>
        <p:nvSpPr>
          <p:cNvPr id="13" name="Shape 10"/>
          <p:cNvSpPr/>
          <p:nvPr/>
        </p:nvSpPr>
        <p:spPr>
          <a:xfrm>
            <a:off x="642818" y="6398419"/>
            <a:ext cx="413266" cy="413266"/>
          </a:xfrm>
          <a:prstGeom prst="roundRect">
            <a:avLst>
              <a:gd name="adj" fmla="val 6667"/>
            </a:avLst>
          </a:prstGeom>
          <a:solidFill>
            <a:srgbClr val="2F2B54"/>
          </a:solidFill>
          <a:ln/>
        </p:spPr>
      </p:sp>
      <p:sp>
        <p:nvSpPr>
          <p:cNvPr id="14" name="Text 11"/>
          <p:cNvSpPr/>
          <p:nvPr/>
        </p:nvSpPr>
        <p:spPr>
          <a:xfrm>
            <a:off x="1239679" y="6461522"/>
            <a:ext cx="2160984" cy="270034"/>
          </a:xfrm>
          <a:prstGeom prst="rect">
            <a:avLst/>
          </a:prstGeom>
          <a:noFill/>
          <a:ln/>
        </p:spPr>
        <p:txBody>
          <a:bodyPr wrap="none" lIns="0" tIns="0" rIns="0" bIns="0" rtlCol="0" anchor="t"/>
          <a:lstStyle/>
          <a:p>
            <a:pPr algn="l" indent="0" marL="0">
              <a:lnSpc>
                <a:spcPts val="2100"/>
              </a:lnSpc>
              <a:buNone/>
            </a:pPr>
            <a:r>
              <a:rPr lang="en-US" sz="1700" dirty="0">
                <a:solidFill>
                  <a:srgbClr val="D9E1FF"/>
                </a:solidFill>
                <a:latin typeface="Kanit" pitchFamily="34" charset="0"/>
                <a:ea typeface="Kanit" pitchFamily="34" charset="-122"/>
                <a:cs typeface="Kanit" pitchFamily="34" charset="-120"/>
              </a:rPr>
              <a:t>Edge Detection</a:t>
            </a:r>
            <a:endParaRPr lang="en-US" sz="1700" dirty="0"/>
          </a:p>
        </p:txBody>
      </p:sp>
      <p:sp>
        <p:nvSpPr>
          <p:cNvPr id="15" name="Text 12"/>
          <p:cNvSpPr/>
          <p:nvPr/>
        </p:nvSpPr>
        <p:spPr>
          <a:xfrm>
            <a:off x="1239679" y="6841688"/>
            <a:ext cx="7261503" cy="881539"/>
          </a:xfrm>
          <a:prstGeom prst="rect">
            <a:avLst/>
          </a:prstGeom>
          <a:noFill/>
          <a:ln/>
        </p:spPr>
        <p:txBody>
          <a:bodyPr wrap="square" lIns="0" tIns="0" rIns="0" bIns="0" rtlCol="0" anchor="t"/>
          <a:lstStyle/>
          <a:p>
            <a:pPr algn="l" indent="0" marL="0">
              <a:lnSpc>
                <a:spcPts val="2300"/>
              </a:lnSpc>
              <a:buNone/>
            </a:pPr>
            <a:r>
              <a:rPr lang="en-US" sz="1400" dirty="0">
                <a:solidFill>
                  <a:srgbClr val="D9E1FF"/>
                </a:solidFill>
                <a:latin typeface="Martel Sans Light" pitchFamily="34" charset="0"/>
                <a:ea typeface="Martel Sans Light" pitchFamily="34" charset="-122"/>
                <a:cs typeface="Martel Sans Light" pitchFamily="34" charset="-120"/>
              </a:rPr>
              <a:t>Advanced edge detection algorithms like Sobel and Canny filters are employed to accentuate fine details and contours in the banknote images. This assists the model in extracting distinctive features critical for classification.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594836" y="603885"/>
            <a:ext cx="3999190" cy="499824"/>
          </a:xfrm>
          <a:prstGeom prst="rect">
            <a:avLst/>
          </a:prstGeom>
          <a:noFill/>
          <a:ln/>
        </p:spPr>
        <p:txBody>
          <a:bodyPr wrap="none" lIns="0" tIns="0" rIns="0" bIns="0" rtlCol="0" anchor="t"/>
          <a:lstStyle/>
          <a:p>
            <a:pPr algn="l" indent="0" marL="0">
              <a:lnSpc>
                <a:spcPts val="3900"/>
              </a:lnSpc>
              <a:buNone/>
            </a:pPr>
            <a:r>
              <a:rPr lang="en-US" sz="3100" dirty="0">
                <a:solidFill>
                  <a:srgbClr val="FFFFFF"/>
                </a:solidFill>
                <a:latin typeface="Kanit" pitchFamily="34" charset="0"/>
                <a:ea typeface="Kanit" pitchFamily="34" charset="-122"/>
                <a:cs typeface="Kanit" pitchFamily="34" charset="-120"/>
              </a:rPr>
              <a:t>Model Architecture</a:t>
            </a:r>
            <a:endParaRPr lang="en-US" sz="3100" dirty="0"/>
          </a:p>
        </p:txBody>
      </p:sp>
      <p:sp>
        <p:nvSpPr>
          <p:cNvPr id="4" name="Shape 1"/>
          <p:cNvSpPr/>
          <p:nvPr/>
        </p:nvSpPr>
        <p:spPr>
          <a:xfrm>
            <a:off x="594836" y="1358622"/>
            <a:ext cx="7954328" cy="1507331"/>
          </a:xfrm>
          <a:prstGeom prst="roundRect">
            <a:avLst>
              <a:gd name="adj" fmla="val 1691"/>
            </a:avLst>
          </a:prstGeom>
          <a:solidFill>
            <a:srgbClr val="2F2B54"/>
          </a:solidFill>
          <a:ln/>
        </p:spPr>
      </p:sp>
      <p:sp>
        <p:nvSpPr>
          <p:cNvPr id="5" name="Text 2"/>
          <p:cNvSpPr/>
          <p:nvPr/>
        </p:nvSpPr>
        <p:spPr>
          <a:xfrm>
            <a:off x="764738" y="1528524"/>
            <a:ext cx="1999536" cy="249793"/>
          </a:xfrm>
          <a:prstGeom prst="rect">
            <a:avLst/>
          </a:prstGeom>
          <a:noFill/>
          <a:ln/>
        </p:spPr>
        <p:txBody>
          <a:bodyPr wrap="none" lIns="0" tIns="0" rIns="0" bIns="0" rtlCol="0" anchor="t"/>
          <a:lstStyle/>
          <a:p>
            <a:pPr algn="l" indent="0" marL="0">
              <a:lnSpc>
                <a:spcPts val="1950"/>
              </a:lnSpc>
              <a:buNone/>
            </a:pPr>
            <a:r>
              <a:rPr lang="en-US" sz="1550" dirty="0">
                <a:solidFill>
                  <a:srgbClr val="D9E1FF"/>
                </a:solidFill>
                <a:latin typeface="Kanit" pitchFamily="34" charset="0"/>
                <a:ea typeface="Kanit" pitchFamily="34" charset="-122"/>
                <a:cs typeface="Kanit" pitchFamily="34" charset="-120"/>
              </a:rPr>
              <a:t>Core Layers</a:t>
            </a:r>
            <a:endParaRPr lang="en-US" sz="1550" dirty="0"/>
          </a:p>
        </p:txBody>
      </p:sp>
      <p:sp>
        <p:nvSpPr>
          <p:cNvPr id="6" name="Text 3"/>
          <p:cNvSpPr/>
          <p:nvPr/>
        </p:nvSpPr>
        <p:spPr>
          <a:xfrm>
            <a:off x="764738" y="1880235"/>
            <a:ext cx="7614523" cy="815816"/>
          </a:xfrm>
          <a:prstGeom prst="rect">
            <a:avLst/>
          </a:prstGeom>
          <a:noFill/>
          <a:ln/>
        </p:spPr>
        <p:txBody>
          <a:bodyPr wrap="square" lIns="0" tIns="0" rIns="0" bIns="0" rtlCol="0" anchor="t"/>
          <a:lstStyle/>
          <a:p>
            <a:pPr algn="l" indent="0" marL="0">
              <a:lnSpc>
                <a:spcPts val="2100"/>
              </a:lnSpc>
              <a:buNone/>
            </a:pPr>
            <a:r>
              <a:rPr lang="en-US" sz="1300" dirty="0">
                <a:solidFill>
                  <a:srgbClr val="D9E1FF"/>
                </a:solidFill>
                <a:latin typeface="Martel Sans Light" pitchFamily="34" charset="0"/>
                <a:ea typeface="Martel Sans Light" pitchFamily="34" charset="-122"/>
                <a:cs typeface="Martel Sans Light" pitchFamily="34" charset="-120"/>
              </a:rPr>
              <a:t>The backbone of our model consists of convolutional layers that automatically learn spatial hierarchies of features. Each convolutional layer is followed by Batch Normalization to stabilize and accelerate training, then a ReLU activation introduces non-linearity. </a:t>
            </a:r>
            <a:endParaRPr lang="en-US" sz="1300" dirty="0"/>
          </a:p>
        </p:txBody>
      </p:sp>
      <p:sp>
        <p:nvSpPr>
          <p:cNvPr id="7" name="Shape 4"/>
          <p:cNvSpPr/>
          <p:nvPr/>
        </p:nvSpPr>
        <p:spPr>
          <a:xfrm>
            <a:off x="594836" y="3035856"/>
            <a:ext cx="7954328" cy="1507331"/>
          </a:xfrm>
          <a:prstGeom prst="roundRect">
            <a:avLst>
              <a:gd name="adj" fmla="val 1691"/>
            </a:avLst>
          </a:prstGeom>
          <a:solidFill>
            <a:srgbClr val="2F2B54"/>
          </a:solidFill>
          <a:ln/>
        </p:spPr>
      </p:sp>
      <p:sp>
        <p:nvSpPr>
          <p:cNvPr id="8" name="Text 5"/>
          <p:cNvSpPr/>
          <p:nvPr/>
        </p:nvSpPr>
        <p:spPr>
          <a:xfrm>
            <a:off x="764738" y="3205758"/>
            <a:ext cx="1999536" cy="249793"/>
          </a:xfrm>
          <a:prstGeom prst="rect">
            <a:avLst/>
          </a:prstGeom>
          <a:noFill/>
          <a:ln/>
        </p:spPr>
        <p:txBody>
          <a:bodyPr wrap="none" lIns="0" tIns="0" rIns="0" bIns="0" rtlCol="0" anchor="t"/>
          <a:lstStyle/>
          <a:p>
            <a:pPr algn="l" indent="0" marL="0">
              <a:lnSpc>
                <a:spcPts val="1950"/>
              </a:lnSpc>
              <a:buNone/>
            </a:pPr>
            <a:r>
              <a:rPr lang="en-US" sz="1550" dirty="0">
                <a:solidFill>
                  <a:srgbClr val="D9E1FF"/>
                </a:solidFill>
                <a:latin typeface="Kanit" pitchFamily="34" charset="0"/>
                <a:ea typeface="Kanit" pitchFamily="34" charset="-122"/>
                <a:cs typeface="Kanit" pitchFamily="34" charset="-120"/>
              </a:rPr>
              <a:t>Output Layers</a:t>
            </a:r>
            <a:endParaRPr lang="en-US" sz="1550" dirty="0"/>
          </a:p>
        </p:txBody>
      </p:sp>
      <p:sp>
        <p:nvSpPr>
          <p:cNvPr id="9" name="Text 6"/>
          <p:cNvSpPr/>
          <p:nvPr/>
        </p:nvSpPr>
        <p:spPr>
          <a:xfrm>
            <a:off x="764738" y="3557468"/>
            <a:ext cx="7614523" cy="815816"/>
          </a:xfrm>
          <a:prstGeom prst="rect">
            <a:avLst/>
          </a:prstGeom>
          <a:noFill/>
          <a:ln/>
        </p:spPr>
        <p:txBody>
          <a:bodyPr wrap="square" lIns="0" tIns="0" rIns="0" bIns="0" rtlCol="0" anchor="t"/>
          <a:lstStyle/>
          <a:p>
            <a:pPr algn="l" indent="0" marL="0">
              <a:lnSpc>
                <a:spcPts val="2100"/>
              </a:lnSpc>
              <a:buNone/>
            </a:pPr>
            <a:r>
              <a:rPr lang="en-US" sz="1300" dirty="0">
                <a:solidFill>
                  <a:srgbClr val="D9E1FF"/>
                </a:solidFill>
                <a:latin typeface="Martel Sans Light" pitchFamily="34" charset="0"/>
                <a:ea typeface="Martel Sans Light" pitchFamily="34" charset="-122"/>
                <a:cs typeface="Martel Sans Light" pitchFamily="34" charset="-120"/>
              </a:rPr>
              <a:t>Our network ends with fully connected (dense) layers that transform the extracted features into predictions. A Softmax activation function in the final layer converts raw outputs into probability distributions for classification.</a:t>
            </a:r>
            <a:endParaRPr lang="en-US" sz="1300" dirty="0"/>
          </a:p>
        </p:txBody>
      </p:sp>
      <p:sp>
        <p:nvSpPr>
          <p:cNvPr id="10" name="Shape 7"/>
          <p:cNvSpPr/>
          <p:nvPr/>
        </p:nvSpPr>
        <p:spPr>
          <a:xfrm>
            <a:off x="594836" y="4713089"/>
            <a:ext cx="7954328" cy="1507331"/>
          </a:xfrm>
          <a:prstGeom prst="roundRect">
            <a:avLst>
              <a:gd name="adj" fmla="val 1691"/>
            </a:avLst>
          </a:prstGeom>
          <a:solidFill>
            <a:srgbClr val="2F2B54"/>
          </a:solidFill>
          <a:ln/>
        </p:spPr>
      </p:sp>
      <p:sp>
        <p:nvSpPr>
          <p:cNvPr id="11" name="Text 8"/>
          <p:cNvSpPr/>
          <p:nvPr/>
        </p:nvSpPr>
        <p:spPr>
          <a:xfrm>
            <a:off x="764738" y="4882991"/>
            <a:ext cx="1999536" cy="249793"/>
          </a:xfrm>
          <a:prstGeom prst="rect">
            <a:avLst/>
          </a:prstGeom>
          <a:noFill/>
          <a:ln/>
        </p:spPr>
        <p:txBody>
          <a:bodyPr wrap="none" lIns="0" tIns="0" rIns="0" bIns="0" rtlCol="0" anchor="t"/>
          <a:lstStyle/>
          <a:p>
            <a:pPr algn="l" indent="0" marL="0">
              <a:lnSpc>
                <a:spcPts val="1950"/>
              </a:lnSpc>
              <a:buNone/>
            </a:pPr>
            <a:r>
              <a:rPr lang="en-US" sz="1550" dirty="0">
                <a:solidFill>
                  <a:srgbClr val="D9E1FF"/>
                </a:solidFill>
                <a:latin typeface="Kanit" pitchFamily="34" charset="0"/>
                <a:ea typeface="Kanit" pitchFamily="34" charset="-122"/>
                <a:cs typeface="Kanit" pitchFamily="34" charset="-120"/>
              </a:rPr>
              <a:t>Transfer Learning</a:t>
            </a:r>
            <a:endParaRPr lang="en-US" sz="1550" dirty="0"/>
          </a:p>
        </p:txBody>
      </p:sp>
      <p:sp>
        <p:nvSpPr>
          <p:cNvPr id="12" name="Text 9"/>
          <p:cNvSpPr/>
          <p:nvPr/>
        </p:nvSpPr>
        <p:spPr>
          <a:xfrm>
            <a:off x="764738" y="5234702"/>
            <a:ext cx="7614523" cy="815816"/>
          </a:xfrm>
          <a:prstGeom prst="rect">
            <a:avLst/>
          </a:prstGeom>
          <a:noFill/>
          <a:ln/>
        </p:spPr>
        <p:txBody>
          <a:bodyPr wrap="square" lIns="0" tIns="0" rIns="0" bIns="0" rtlCol="0" anchor="t"/>
          <a:lstStyle/>
          <a:p>
            <a:pPr algn="l" indent="0" marL="0">
              <a:lnSpc>
                <a:spcPts val="2100"/>
              </a:lnSpc>
              <a:buNone/>
            </a:pPr>
            <a:r>
              <a:rPr lang="en-US" sz="1300" dirty="0">
                <a:solidFill>
                  <a:srgbClr val="D9E1FF"/>
                </a:solidFill>
                <a:latin typeface="Martel Sans Light" pitchFamily="34" charset="0"/>
                <a:ea typeface="Martel Sans Light" pitchFamily="34" charset="-122"/>
                <a:cs typeface="Martel Sans Light" pitchFamily="34" charset="-120"/>
              </a:rPr>
              <a:t>We leverage pre-trained base models to benefit from generalized feature extraction learned on large datasets. These base layers are often frozen during initial training rounds to preserve foundational knowledge. </a:t>
            </a:r>
            <a:endParaRPr lang="en-US" sz="1300" dirty="0"/>
          </a:p>
        </p:txBody>
      </p:sp>
      <p:sp>
        <p:nvSpPr>
          <p:cNvPr id="13" name="Shape 10"/>
          <p:cNvSpPr/>
          <p:nvPr/>
        </p:nvSpPr>
        <p:spPr>
          <a:xfrm>
            <a:off x="594836" y="6390323"/>
            <a:ext cx="7954328" cy="1235393"/>
          </a:xfrm>
          <a:prstGeom prst="roundRect">
            <a:avLst>
              <a:gd name="adj" fmla="val 2064"/>
            </a:avLst>
          </a:prstGeom>
          <a:solidFill>
            <a:srgbClr val="2F2B54"/>
          </a:solidFill>
          <a:ln/>
        </p:spPr>
      </p:sp>
      <p:sp>
        <p:nvSpPr>
          <p:cNvPr id="14" name="Text 11"/>
          <p:cNvSpPr/>
          <p:nvPr/>
        </p:nvSpPr>
        <p:spPr>
          <a:xfrm>
            <a:off x="764738" y="6560225"/>
            <a:ext cx="1999536" cy="249793"/>
          </a:xfrm>
          <a:prstGeom prst="rect">
            <a:avLst/>
          </a:prstGeom>
          <a:noFill/>
          <a:ln/>
        </p:spPr>
        <p:txBody>
          <a:bodyPr wrap="none" lIns="0" tIns="0" rIns="0" bIns="0" rtlCol="0" anchor="t"/>
          <a:lstStyle/>
          <a:p>
            <a:pPr algn="l" indent="0" marL="0">
              <a:lnSpc>
                <a:spcPts val="1950"/>
              </a:lnSpc>
              <a:buNone/>
            </a:pPr>
            <a:r>
              <a:rPr lang="en-US" sz="1550" dirty="0">
                <a:solidFill>
                  <a:srgbClr val="D9E1FF"/>
                </a:solidFill>
                <a:latin typeface="Kanit" pitchFamily="34" charset="0"/>
                <a:ea typeface="Kanit" pitchFamily="34" charset="-122"/>
                <a:cs typeface="Kanit" pitchFamily="34" charset="-120"/>
              </a:rPr>
              <a:t>Loss Function</a:t>
            </a:r>
            <a:endParaRPr lang="en-US" sz="1550" dirty="0"/>
          </a:p>
        </p:txBody>
      </p:sp>
      <p:sp>
        <p:nvSpPr>
          <p:cNvPr id="15" name="Text 12"/>
          <p:cNvSpPr/>
          <p:nvPr/>
        </p:nvSpPr>
        <p:spPr>
          <a:xfrm>
            <a:off x="764738" y="6911935"/>
            <a:ext cx="7614523" cy="543878"/>
          </a:xfrm>
          <a:prstGeom prst="rect">
            <a:avLst/>
          </a:prstGeom>
          <a:noFill/>
          <a:ln/>
        </p:spPr>
        <p:txBody>
          <a:bodyPr wrap="square" lIns="0" tIns="0" rIns="0" bIns="0" rtlCol="0" anchor="t"/>
          <a:lstStyle/>
          <a:p>
            <a:pPr algn="l" indent="0" marL="0">
              <a:lnSpc>
                <a:spcPts val="2100"/>
              </a:lnSpc>
              <a:buNone/>
            </a:pPr>
            <a:r>
              <a:rPr lang="en-US" sz="1300" dirty="0">
                <a:solidFill>
                  <a:srgbClr val="D9E1FF"/>
                </a:solidFill>
                <a:latin typeface="Martel Sans Light" pitchFamily="34" charset="0"/>
                <a:ea typeface="Martel Sans Light" pitchFamily="34" charset="-122"/>
                <a:cs typeface="Martel Sans Light" pitchFamily="34" charset="-120"/>
              </a:rPr>
              <a:t>The model optimizes using either Categorical Crossentropy for multi-class classification or Binary Crossentropy for binary detection scenarios. </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42236" y="753070"/>
            <a:ext cx="4990028" cy="623649"/>
          </a:xfrm>
          <a:prstGeom prst="rect">
            <a:avLst/>
          </a:prstGeom>
          <a:noFill/>
          <a:ln/>
        </p:spPr>
        <p:txBody>
          <a:bodyPr wrap="none" lIns="0" tIns="0" rIns="0" bIns="0" rtlCol="0" anchor="t"/>
          <a:lstStyle/>
          <a:p>
            <a:pPr algn="l" indent="0" marL="0">
              <a:lnSpc>
                <a:spcPts val="4900"/>
              </a:lnSpc>
              <a:buNone/>
            </a:pPr>
            <a:r>
              <a:rPr lang="en-US" sz="3900" dirty="0">
                <a:solidFill>
                  <a:srgbClr val="FFFFFF"/>
                </a:solidFill>
                <a:latin typeface="Kanit" pitchFamily="34" charset="0"/>
                <a:ea typeface="Kanit" pitchFamily="34" charset="-122"/>
                <a:cs typeface="Kanit" pitchFamily="34" charset="-120"/>
              </a:rPr>
              <a:t>Training Methodology</a:t>
            </a:r>
            <a:endParaRPr lang="en-US" sz="3900" dirty="0"/>
          </a:p>
        </p:txBody>
      </p:sp>
      <p:sp>
        <p:nvSpPr>
          <p:cNvPr id="3" name="Text 1"/>
          <p:cNvSpPr/>
          <p:nvPr/>
        </p:nvSpPr>
        <p:spPr>
          <a:xfrm>
            <a:off x="742236" y="1906786"/>
            <a:ext cx="2494955" cy="311944"/>
          </a:xfrm>
          <a:prstGeom prst="rect">
            <a:avLst/>
          </a:prstGeom>
          <a:noFill/>
          <a:ln/>
        </p:spPr>
        <p:txBody>
          <a:bodyPr wrap="none" lIns="0" tIns="0" rIns="0" bIns="0" rtlCol="0" anchor="t"/>
          <a:lstStyle/>
          <a:p>
            <a:pPr algn="l" indent="0" marL="0">
              <a:lnSpc>
                <a:spcPts val="2450"/>
              </a:lnSpc>
              <a:buNone/>
            </a:pPr>
            <a:r>
              <a:rPr lang="en-US" sz="1950" dirty="0">
                <a:solidFill>
                  <a:srgbClr val="FFFFFF"/>
                </a:solidFill>
                <a:latin typeface="Kanit" pitchFamily="34" charset="0"/>
                <a:ea typeface="Kanit" pitchFamily="34" charset="-122"/>
                <a:cs typeface="Kanit" pitchFamily="34" charset="-120"/>
              </a:rPr>
              <a:t>Framework</a:t>
            </a:r>
            <a:endParaRPr lang="en-US" sz="1950" dirty="0"/>
          </a:p>
        </p:txBody>
      </p:sp>
      <p:sp>
        <p:nvSpPr>
          <p:cNvPr id="4" name="Text 2"/>
          <p:cNvSpPr/>
          <p:nvPr/>
        </p:nvSpPr>
        <p:spPr>
          <a:xfrm>
            <a:off x="742236" y="2430780"/>
            <a:ext cx="4036457" cy="2374463"/>
          </a:xfrm>
          <a:prstGeom prst="rect">
            <a:avLst/>
          </a:prstGeom>
          <a:noFill/>
          <a:ln/>
        </p:spPr>
        <p:txBody>
          <a:bodyPr wrap="square" lIns="0" tIns="0" rIns="0" bIns="0" rtlCol="0" anchor="t"/>
          <a:lstStyle/>
          <a:p>
            <a:pPr algn="l" indent="0" marL="0">
              <a:lnSpc>
                <a:spcPts val="2650"/>
              </a:lnSpc>
              <a:buNone/>
            </a:pPr>
            <a:r>
              <a:rPr lang="en-US" sz="1650" dirty="0">
                <a:solidFill>
                  <a:srgbClr val="D9E1FF"/>
                </a:solidFill>
                <a:latin typeface="Martel Sans Light" pitchFamily="34" charset="0"/>
                <a:ea typeface="Martel Sans Light" pitchFamily="34" charset="-122"/>
                <a:cs typeface="Martel Sans Light" pitchFamily="34" charset="-120"/>
              </a:rPr>
              <a:t>Implemented in widely used deep learning frameworks such as PyTorch, TensorFlow, or Keras to leverage their robust libraries and GPU acceleration capabilities. These frameworks allow for flexible model building, debugging, and efficient training procedures.</a:t>
            </a:r>
            <a:endParaRPr lang="en-US" sz="1650" dirty="0"/>
          </a:p>
        </p:txBody>
      </p:sp>
      <p:sp>
        <p:nvSpPr>
          <p:cNvPr id="5" name="Text 3"/>
          <p:cNvSpPr/>
          <p:nvPr/>
        </p:nvSpPr>
        <p:spPr>
          <a:xfrm>
            <a:off x="5303758" y="1906786"/>
            <a:ext cx="2494955" cy="311944"/>
          </a:xfrm>
          <a:prstGeom prst="rect">
            <a:avLst/>
          </a:prstGeom>
          <a:noFill/>
          <a:ln/>
        </p:spPr>
        <p:txBody>
          <a:bodyPr wrap="none" lIns="0" tIns="0" rIns="0" bIns="0" rtlCol="0" anchor="t"/>
          <a:lstStyle/>
          <a:p>
            <a:pPr algn="l" indent="0" marL="0">
              <a:lnSpc>
                <a:spcPts val="2450"/>
              </a:lnSpc>
              <a:buNone/>
            </a:pPr>
            <a:r>
              <a:rPr lang="en-US" sz="1950" dirty="0">
                <a:solidFill>
                  <a:srgbClr val="FFFFFF"/>
                </a:solidFill>
                <a:latin typeface="Kanit" pitchFamily="34" charset="0"/>
                <a:ea typeface="Kanit" pitchFamily="34" charset="-122"/>
                <a:cs typeface="Kanit" pitchFamily="34" charset="-120"/>
              </a:rPr>
              <a:t>Parameters</a:t>
            </a:r>
            <a:endParaRPr lang="en-US" sz="1950" dirty="0"/>
          </a:p>
        </p:txBody>
      </p:sp>
      <p:sp>
        <p:nvSpPr>
          <p:cNvPr id="6" name="Text 4"/>
          <p:cNvSpPr/>
          <p:nvPr/>
        </p:nvSpPr>
        <p:spPr>
          <a:xfrm>
            <a:off x="5303758" y="2430780"/>
            <a:ext cx="4036457" cy="1356836"/>
          </a:xfrm>
          <a:prstGeom prst="rect">
            <a:avLst/>
          </a:prstGeom>
          <a:noFill/>
          <a:ln/>
        </p:spPr>
        <p:txBody>
          <a:bodyPr wrap="square" lIns="0" tIns="0" rIns="0" bIns="0" rtlCol="0" anchor="t"/>
          <a:lstStyle/>
          <a:p>
            <a:pPr algn="l" marL="342900" indent="-342900">
              <a:lnSpc>
                <a:spcPts val="2650"/>
              </a:lnSpc>
              <a:buSzPct val="100000"/>
              <a:buChar char="•"/>
            </a:pPr>
            <a:r>
              <a:rPr lang="en-US" sz="1650" dirty="0">
                <a:solidFill>
                  <a:srgbClr val="D9E1FF"/>
                </a:solidFill>
                <a:latin typeface="Martel Sans Light" pitchFamily="34" charset="0"/>
                <a:ea typeface="Martel Sans Light" pitchFamily="34" charset="-122"/>
                <a:cs typeface="Martel Sans Light" pitchFamily="34" charset="-120"/>
              </a:rPr>
              <a:t>Optimizer: Adam or Stochastic Gradient Descent (SGD) chosen based on convergence speed and performance.</a:t>
            </a:r>
            <a:endParaRPr lang="en-US" sz="1650" dirty="0"/>
          </a:p>
        </p:txBody>
      </p:sp>
      <p:sp>
        <p:nvSpPr>
          <p:cNvPr id="7" name="Text 5"/>
          <p:cNvSpPr/>
          <p:nvPr/>
        </p:nvSpPr>
        <p:spPr>
          <a:xfrm>
            <a:off x="5303758" y="3861792"/>
            <a:ext cx="4036457" cy="1017627"/>
          </a:xfrm>
          <a:prstGeom prst="rect">
            <a:avLst/>
          </a:prstGeom>
          <a:noFill/>
          <a:ln/>
        </p:spPr>
        <p:txBody>
          <a:bodyPr wrap="square" lIns="0" tIns="0" rIns="0" bIns="0" rtlCol="0" anchor="t"/>
          <a:lstStyle/>
          <a:p>
            <a:pPr algn="l" marL="342900" indent="-342900">
              <a:lnSpc>
                <a:spcPts val="2650"/>
              </a:lnSpc>
              <a:buSzPct val="100000"/>
              <a:buChar char="•"/>
            </a:pPr>
            <a:r>
              <a:rPr lang="en-US" sz="1650" dirty="0">
                <a:solidFill>
                  <a:srgbClr val="D9E1FF"/>
                </a:solidFill>
                <a:latin typeface="Martel Sans Light" pitchFamily="34" charset="0"/>
                <a:ea typeface="Martel Sans Light" pitchFamily="34" charset="-122"/>
                <a:cs typeface="Martel Sans Light" pitchFamily="34" charset="-120"/>
              </a:rPr>
              <a:t>Epochs: The number of full training cycles over the dataset; tuned to avoid overfitting.</a:t>
            </a:r>
            <a:endParaRPr lang="en-US" sz="1650" dirty="0"/>
          </a:p>
        </p:txBody>
      </p:sp>
      <p:sp>
        <p:nvSpPr>
          <p:cNvPr id="8" name="Text 6"/>
          <p:cNvSpPr/>
          <p:nvPr/>
        </p:nvSpPr>
        <p:spPr>
          <a:xfrm>
            <a:off x="5303758" y="4953595"/>
            <a:ext cx="4036457" cy="1356836"/>
          </a:xfrm>
          <a:prstGeom prst="rect">
            <a:avLst/>
          </a:prstGeom>
          <a:noFill/>
          <a:ln/>
        </p:spPr>
        <p:txBody>
          <a:bodyPr wrap="square" lIns="0" tIns="0" rIns="0" bIns="0" rtlCol="0" anchor="t"/>
          <a:lstStyle/>
          <a:p>
            <a:pPr algn="l" marL="342900" indent="-342900">
              <a:lnSpc>
                <a:spcPts val="2650"/>
              </a:lnSpc>
              <a:buSzPct val="100000"/>
              <a:buChar char="•"/>
            </a:pPr>
            <a:r>
              <a:rPr lang="en-US" sz="1650" dirty="0">
                <a:solidFill>
                  <a:srgbClr val="D9E1FF"/>
                </a:solidFill>
                <a:latin typeface="Martel Sans Light" pitchFamily="34" charset="0"/>
                <a:ea typeface="Martel Sans Light" pitchFamily="34" charset="-122"/>
                <a:cs typeface="Martel Sans Light" pitchFamily="34" charset="-120"/>
              </a:rPr>
              <a:t>Batch size: Number of samples processed before the model is updated, balancing speed and memory usage.</a:t>
            </a:r>
            <a:endParaRPr lang="en-US" sz="1650" dirty="0"/>
          </a:p>
        </p:txBody>
      </p:sp>
      <p:sp>
        <p:nvSpPr>
          <p:cNvPr id="9" name="Text 7"/>
          <p:cNvSpPr/>
          <p:nvPr/>
        </p:nvSpPr>
        <p:spPr>
          <a:xfrm>
            <a:off x="5303758" y="6384608"/>
            <a:ext cx="4036457" cy="1017627"/>
          </a:xfrm>
          <a:prstGeom prst="rect">
            <a:avLst/>
          </a:prstGeom>
          <a:noFill/>
          <a:ln/>
        </p:spPr>
        <p:txBody>
          <a:bodyPr wrap="square" lIns="0" tIns="0" rIns="0" bIns="0" rtlCol="0" anchor="t"/>
          <a:lstStyle/>
          <a:p>
            <a:pPr algn="l" marL="342900" indent="-342900">
              <a:lnSpc>
                <a:spcPts val="2650"/>
              </a:lnSpc>
              <a:buSzPct val="100000"/>
              <a:buChar char="•"/>
            </a:pPr>
            <a:r>
              <a:rPr lang="en-US" sz="1650" dirty="0">
                <a:solidFill>
                  <a:srgbClr val="D9E1FF"/>
                </a:solidFill>
                <a:latin typeface="Martel Sans Light" pitchFamily="34" charset="0"/>
                <a:ea typeface="Martel Sans Light" pitchFamily="34" charset="-122"/>
                <a:cs typeface="Martel Sans Light" pitchFamily="34" charset="-120"/>
              </a:rPr>
              <a:t>Learning rate: Controls how much the model is adjusted during training; fine-tuned for optimal accuracy.</a:t>
            </a:r>
            <a:endParaRPr lang="en-US" sz="1650" dirty="0"/>
          </a:p>
        </p:txBody>
      </p:sp>
      <p:sp>
        <p:nvSpPr>
          <p:cNvPr id="10" name="Text 8"/>
          <p:cNvSpPr/>
          <p:nvPr/>
        </p:nvSpPr>
        <p:spPr>
          <a:xfrm>
            <a:off x="9865281" y="1906786"/>
            <a:ext cx="2494955" cy="311944"/>
          </a:xfrm>
          <a:prstGeom prst="rect">
            <a:avLst/>
          </a:prstGeom>
          <a:noFill/>
          <a:ln/>
        </p:spPr>
        <p:txBody>
          <a:bodyPr wrap="none" lIns="0" tIns="0" rIns="0" bIns="0" rtlCol="0" anchor="t"/>
          <a:lstStyle/>
          <a:p>
            <a:pPr algn="l" indent="0" marL="0">
              <a:lnSpc>
                <a:spcPts val="2450"/>
              </a:lnSpc>
              <a:buNone/>
            </a:pPr>
            <a:r>
              <a:rPr lang="en-US" sz="1950" dirty="0">
                <a:solidFill>
                  <a:srgbClr val="FFFFFF"/>
                </a:solidFill>
                <a:latin typeface="Kanit" pitchFamily="34" charset="0"/>
                <a:ea typeface="Kanit" pitchFamily="34" charset="-122"/>
                <a:cs typeface="Kanit" pitchFamily="34" charset="-120"/>
              </a:rPr>
              <a:t>Training Setup</a:t>
            </a:r>
            <a:endParaRPr lang="en-US" sz="1950" dirty="0"/>
          </a:p>
        </p:txBody>
      </p:sp>
      <p:sp>
        <p:nvSpPr>
          <p:cNvPr id="11" name="Text 9"/>
          <p:cNvSpPr/>
          <p:nvPr/>
        </p:nvSpPr>
        <p:spPr>
          <a:xfrm>
            <a:off x="9865281" y="2430780"/>
            <a:ext cx="4036457" cy="3392091"/>
          </a:xfrm>
          <a:prstGeom prst="rect">
            <a:avLst/>
          </a:prstGeom>
          <a:noFill/>
          <a:ln/>
        </p:spPr>
        <p:txBody>
          <a:bodyPr wrap="square" lIns="0" tIns="0" rIns="0" bIns="0" rtlCol="0" anchor="t"/>
          <a:lstStyle/>
          <a:p>
            <a:pPr algn="l" indent="0" marL="0">
              <a:lnSpc>
                <a:spcPts val="2650"/>
              </a:lnSpc>
              <a:buNone/>
            </a:pPr>
            <a:r>
              <a:rPr lang="en-US" sz="1650" dirty="0">
                <a:solidFill>
                  <a:srgbClr val="D9E1FF"/>
                </a:solidFill>
                <a:latin typeface="Martel Sans Light" pitchFamily="34" charset="0"/>
                <a:ea typeface="Martel Sans Light" pitchFamily="34" charset="-122"/>
                <a:cs typeface="Martel Sans Light" pitchFamily="34" charset="-120"/>
              </a:rPr>
              <a:t>The dataset is split into training and validation sets to monitor the model's performance and prevent overfitting. Data augmentation techniques are used to artificially expand the dataset with variations such as rotations and brightness adjustments. Callbacks like early stopping and learning rate schedulers help optimize training efficiency and model generalization.</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341882" y="842248"/>
            <a:ext cx="5090636" cy="6545104"/>
          </a:xfrm>
          <a:prstGeom prst="rect">
            <a:avLst/>
          </a:prstGeom>
        </p:spPr>
      </p:pic>
      <p:sp>
        <p:nvSpPr>
          <p:cNvPr id="4" name="Text 0"/>
          <p:cNvSpPr/>
          <p:nvPr/>
        </p:nvSpPr>
        <p:spPr>
          <a:xfrm>
            <a:off x="554117" y="436126"/>
            <a:ext cx="3725823" cy="465653"/>
          </a:xfrm>
          <a:prstGeom prst="rect">
            <a:avLst/>
          </a:prstGeom>
          <a:noFill/>
          <a:ln/>
        </p:spPr>
        <p:txBody>
          <a:bodyPr wrap="none" lIns="0" tIns="0" rIns="0" bIns="0" rtlCol="0" anchor="t"/>
          <a:lstStyle/>
          <a:p>
            <a:pPr algn="l" indent="0" marL="0">
              <a:lnSpc>
                <a:spcPts val="3650"/>
              </a:lnSpc>
              <a:buNone/>
            </a:pPr>
            <a:r>
              <a:rPr lang="en-US" sz="2900" dirty="0">
                <a:solidFill>
                  <a:srgbClr val="FFFFFF"/>
                </a:solidFill>
                <a:latin typeface="Kanit" pitchFamily="34" charset="0"/>
                <a:ea typeface="Kanit" pitchFamily="34" charset="-122"/>
                <a:cs typeface="Kanit" pitchFamily="34" charset="-120"/>
              </a:rPr>
              <a:t>Performance Metrics</a:t>
            </a:r>
            <a:endParaRPr lang="en-US" sz="2900" dirty="0"/>
          </a:p>
        </p:txBody>
      </p:sp>
      <p:sp>
        <p:nvSpPr>
          <p:cNvPr id="5" name="Shape 1"/>
          <p:cNvSpPr/>
          <p:nvPr/>
        </p:nvSpPr>
        <p:spPr>
          <a:xfrm>
            <a:off x="554117" y="1139190"/>
            <a:ext cx="8035766" cy="1966436"/>
          </a:xfrm>
          <a:prstGeom prst="roundRect">
            <a:avLst>
              <a:gd name="adj" fmla="val 1208"/>
            </a:avLst>
          </a:prstGeom>
          <a:solidFill>
            <a:srgbClr val="2F2B54"/>
          </a:solidFill>
          <a:ln/>
        </p:spPr>
      </p:sp>
      <p:sp>
        <p:nvSpPr>
          <p:cNvPr id="6" name="Text 2"/>
          <p:cNvSpPr/>
          <p:nvPr/>
        </p:nvSpPr>
        <p:spPr>
          <a:xfrm>
            <a:off x="712351" y="1297424"/>
            <a:ext cx="1862852" cy="232886"/>
          </a:xfrm>
          <a:prstGeom prst="rect">
            <a:avLst/>
          </a:prstGeom>
          <a:noFill/>
          <a:ln/>
        </p:spPr>
        <p:txBody>
          <a:bodyPr wrap="none" lIns="0" tIns="0" rIns="0" bIns="0" rtlCol="0" anchor="t"/>
          <a:lstStyle/>
          <a:p>
            <a:pPr algn="l" indent="0" marL="0">
              <a:lnSpc>
                <a:spcPts val="1800"/>
              </a:lnSpc>
              <a:buNone/>
            </a:pPr>
            <a:r>
              <a:rPr lang="en-US" sz="1450" dirty="0">
                <a:solidFill>
                  <a:srgbClr val="D9E1FF"/>
                </a:solidFill>
                <a:latin typeface="Kanit" pitchFamily="34" charset="0"/>
                <a:ea typeface="Kanit" pitchFamily="34" charset="-122"/>
                <a:cs typeface="Kanit" pitchFamily="34" charset="-120"/>
              </a:rPr>
              <a:t>Metrics</a:t>
            </a:r>
            <a:endParaRPr lang="en-US" sz="1450" dirty="0"/>
          </a:p>
        </p:txBody>
      </p:sp>
      <p:sp>
        <p:nvSpPr>
          <p:cNvPr id="7" name="Text 3"/>
          <p:cNvSpPr/>
          <p:nvPr/>
        </p:nvSpPr>
        <p:spPr>
          <a:xfrm>
            <a:off x="712351" y="1625203"/>
            <a:ext cx="7719298" cy="506730"/>
          </a:xfrm>
          <a:prstGeom prst="rect">
            <a:avLst/>
          </a:prstGeom>
          <a:noFill/>
          <a:ln/>
        </p:spPr>
        <p:txBody>
          <a:bodyPr wrap="square" lIns="0" tIns="0" rIns="0" bIns="0" rtlCol="0" anchor="t"/>
          <a:lstStyle/>
          <a:p>
            <a:pPr algn="l" marL="342900" indent="-342900">
              <a:lnSpc>
                <a:spcPts val="1950"/>
              </a:lnSpc>
              <a:buSzPct val="100000"/>
              <a:buChar char="•"/>
            </a:pPr>
            <a:r>
              <a:rPr lang="en-US" sz="1200" b="1" dirty="0">
                <a:solidFill>
                  <a:srgbClr val="D9E1FF"/>
                </a:solidFill>
                <a:latin typeface="Martel Sans Light" pitchFamily="34" charset="0"/>
                <a:ea typeface="Martel Sans Light" pitchFamily="34" charset="-122"/>
                <a:cs typeface="Martel Sans Light" pitchFamily="34" charset="-120"/>
              </a:rPr>
              <a:t>Accuracy:</a:t>
            </a:r>
            <a:pPr algn="l" indent="0" marL="0">
              <a:lnSpc>
                <a:spcPts val="1950"/>
              </a:lnSpc>
              <a:buNone/>
            </a:pPr>
            <a:r>
              <a:rPr lang="en-US" sz="1200" dirty="0">
                <a:solidFill>
                  <a:srgbClr val="D9E1FF"/>
                </a:solidFill>
                <a:latin typeface="Martel Sans Light" pitchFamily="34" charset="0"/>
                <a:ea typeface="Martel Sans Light" pitchFamily="34" charset="-122"/>
                <a:cs typeface="Martel Sans Light" pitchFamily="34" charset="-120"/>
              </a:rPr>
              <a:t> The overall correctness of the model, measuring the proportion of true results (both true positives and true negatives) among total cases.</a:t>
            </a:r>
            <a:endParaRPr lang="en-US" sz="1200" dirty="0"/>
          </a:p>
        </p:txBody>
      </p:sp>
      <p:sp>
        <p:nvSpPr>
          <p:cNvPr id="8" name="Text 4"/>
          <p:cNvSpPr/>
          <p:nvPr/>
        </p:nvSpPr>
        <p:spPr>
          <a:xfrm>
            <a:off x="712351" y="2187297"/>
            <a:ext cx="7719298" cy="760095"/>
          </a:xfrm>
          <a:prstGeom prst="rect">
            <a:avLst/>
          </a:prstGeom>
          <a:noFill/>
          <a:ln/>
        </p:spPr>
        <p:txBody>
          <a:bodyPr wrap="square" lIns="0" tIns="0" rIns="0" bIns="0" rtlCol="0" anchor="t"/>
          <a:lstStyle/>
          <a:p>
            <a:pPr algn="l" marL="342900" indent="-342900">
              <a:lnSpc>
                <a:spcPts val="1950"/>
              </a:lnSpc>
              <a:buSzPct val="100000"/>
              <a:buChar char="•"/>
            </a:pPr>
            <a:r>
              <a:rPr lang="en-US" sz="1200" b="1" dirty="0">
                <a:solidFill>
                  <a:srgbClr val="D9E1FF"/>
                </a:solidFill>
                <a:latin typeface="Martel Sans Light" pitchFamily="34" charset="0"/>
                <a:ea typeface="Martel Sans Light" pitchFamily="34" charset="-122"/>
                <a:cs typeface="Martel Sans Light" pitchFamily="34" charset="-120"/>
              </a:rPr>
              <a:t>Precision, Recall, F1-score:</a:t>
            </a:r>
            <a:pPr algn="l" indent="0" marL="0">
              <a:lnSpc>
                <a:spcPts val="1950"/>
              </a:lnSpc>
              <a:buNone/>
            </a:pPr>
            <a:r>
              <a:rPr lang="en-US" sz="1200" dirty="0">
                <a:solidFill>
                  <a:srgbClr val="D9E1FF"/>
                </a:solidFill>
                <a:latin typeface="Martel Sans Light" pitchFamily="34" charset="0"/>
                <a:ea typeface="Martel Sans Light" pitchFamily="34" charset="-122"/>
                <a:cs typeface="Martel Sans Light" pitchFamily="34" charset="-120"/>
              </a:rPr>
              <a:t> Key indicators for model quality; precision measures the correctness of positive predictions, recall assesses the identification of all relevant instances, and F1-score provides a balanced harmonic mean between precision and recall.</a:t>
            </a:r>
            <a:endParaRPr lang="en-US" sz="1200" dirty="0"/>
          </a:p>
        </p:txBody>
      </p:sp>
      <p:sp>
        <p:nvSpPr>
          <p:cNvPr id="9" name="Shape 5"/>
          <p:cNvSpPr/>
          <p:nvPr/>
        </p:nvSpPr>
        <p:spPr>
          <a:xfrm>
            <a:off x="554117" y="3263860"/>
            <a:ext cx="8035766" cy="1404342"/>
          </a:xfrm>
          <a:prstGeom prst="roundRect">
            <a:avLst>
              <a:gd name="adj" fmla="val 1691"/>
            </a:avLst>
          </a:prstGeom>
          <a:solidFill>
            <a:srgbClr val="2F2B54"/>
          </a:solidFill>
          <a:ln/>
        </p:spPr>
      </p:sp>
      <p:sp>
        <p:nvSpPr>
          <p:cNvPr id="10" name="Text 6"/>
          <p:cNvSpPr/>
          <p:nvPr/>
        </p:nvSpPr>
        <p:spPr>
          <a:xfrm>
            <a:off x="712351" y="3422094"/>
            <a:ext cx="1862852" cy="232886"/>
          </a:xfrm>
          <a:prstGeom prst="rect">
            <a:avLst/>
          </a:prstGeom>
          <a:noFill/>
          <a:ln/>
        </p:spPr>
        <p:txBody>
          <a:bodyPr wrap="none" lIns="0" tIns="0" rIns="0" bIns="0" rtlCol="0" anchor="t"/>
          <a:lstStyle/>
          <a:p>
            <a:pPr algn="l" indent="0" marL="0">
              <a:lnSpc>
                <a:spcPts val="1800"/>
              </a:lnSpc>
              <a:buNone/>
            </a:pPr>
            <a:r>
              <a:rPr lang="en-US" sz="1450" dirty="0">
                <a:solidFill>
                  <a:srgbClr val="D9E1FF"/>
                </a:solidFill>
                <a:latin typeface="Kanit" pitchFamily="34" charset="0"/>
                <a:ea typeface="Kanit" pitchFamily="34" charset="-122"/>
                <a:cs typeface="Kanit" pitchFamily="34" charset="-120"/>
              </a:rPr>
              <a:t>Confusion Matrix</a:t>
            </a:r>
            <a:endParaRPr lang="en-US" sz="1450" dirty="0"/>
          </a:p>
        </p:txBody>
      </p:sp>
      <p:sp>
        <p:nvSpPr>
          <p:cNvPr id="11" name="Text 7"/>
          <p:cNvSpPr/>
          <p:nvPr/>
        </p:nvSpPr>
        <p:spPr>
          <a:xfrm>
            <a:off x="712351" y="3749873"/>
            <a:ext cx="7719298" cy="760095"/>
          </a:xfrm>
          <a:prstGeom prst="rect">
            <a:avLst/>
          </a:prstGeom>
          <a:noFill/>
          <a:ln/>
        </p:spPr>
        <p:txBody>
          <a:bodyPr wrap="square" lIns="0" tIns="0" rIns="0" bIns="0" rtlCol="0" anchor="t"/>
          <a:lstStyle/>
          <a:p>
            <a:pPr algn="l" indent="0" marL="0">
              <a:lnSpc>
                <a:spcPts val="1950"/>
              </a:lnSpc>
              <a:buNone/>
            </a:pPr>
            <a:r>
              <a:rPr lang="en-US" sz="1200" dirty="0">
                <a:solidFill>
                  <a:srgbClr val="D9E1FF"/>
                </a:solidFill>
                <a:latin typeface="Martel Sans Light" pitchFamily="34" charset="0"/>
                <a:ea typeface="Martel Sans Light" pitchFamily="34" charset="-122"/>
                <a:cs typeface="Martel Sans Light" pitchFamily="34" charset="-120"/>
              </a:rPr>
              <a:t>A detailed summary of prediction outcomes showing true positives, true negatives, false positives, and false negatives. This helps identify types of errors the model makes, which is crucial for improving classification accuracy, especially in imbalanced datasets.</a:t>
            </a:r>
            <a:endParaRPr lang="en-US" sz="1200" dirty="0"/>
          </a:p>
        </p:txBody>
      </p:sp>
      <p:sp>
        <p:nvSpPr>
          <p:cNvPr id="12" name="Shape 8"/>
          <p:cNvSpPr/>
          <p:nvPr/>
        </p:nvSpPr>
        <p:spPr>
          <a:xfrm>
            <a:off x="554117" y="4826437"/>
            <a:ext cx="8035766" cy="1404342"/>
          </a:xfrm>
          <a:prstGeom prst="roundRect">
            <a:avLst>
              <a:gd name="adj" fmla="val 1691"/>
            </a:avLst>
          </a:prstGeom>
          <a:solidFill>
            <a:srgbClr val="2F2B54"/>
          </a:solidFill>
          <a:ln/>
        </p:spPr>
      </p:sp>
      <p:sp>
        <p:nvSpPr>
          <p:cNvPr id="13" name="Text 9"/>
          <p:cNvSpPr/>
          <p:nvPr/>
        </p:nvSpPr>
        <p:spPr>
          <a:xfrm>
            <a:off x="712351" y="4984671"/>
            <a:ext cx="1862852" cy="232886"/>
          </a:xfrm>
          <a:prstGeom prst="rect">
            <a:avLst/>
          </a:prstGeom>
          <a:noFill/>
          <a:ln/>
        </p:spPr>
        <p:txBody>
          <a:bodyPr wrap="none" lIns="0" tIns="0" rIns="0" bIns="0" rtlCol="0" anchor="t"/>
          <a:lstStyle/>
          <a:p>
            <a:pPr algn="l" indent="0" marL="0">
              <a:lnSpc>
                <a:spcPts val="1800"/>
              </a:lnSpc>
              <a:buNone/>
            </a:pPr>
            <a:r>
              <a:rPr lang="en-US" sz="1450" dirty="0">
                <a:solidFill>
                  <a:srgbClr val="D9E1FF"/>
                </a:solidFill>
                <a:latin typeface="Kanit" pitchFamily="34" charset="0"/>
                <a:ea typeface="Kanit" pitchFamily="34" charset="-122"/>
                <a:cs typeface="Kanit" pitchFamily="34" charset="-120"/>
              </a:rPr>
              <a:t>ROC-AUC Curve</a:t>
            </a:r>
            <a:endParaRPr lang="en-US" sz="1450" dirty="0"/>
          </a:p>
        </p:txBody>
      </p:sp>
      <p:sp>
        <p:nvSpPr>
          <p:cNvPr id="14" name="Text 10"/>
          <p:cNvSpPr/>
          <p:nvPr/>
        </p:nvSpPr>
        <p:spPr>
          <a:xfrm>
            <a:off x="712351" y="5312450"/>
            <a:ext cx="7719298" cy="760095"/>
          </a:xfrm>
          <a:prstGeom prst="rect">
            <a:avLst/>
          </a:prstGeom>
          <a:noFill/>
          <a:ln/>
        </p:spPr>
        <p:txBody>
          <a:bodyPr wrap="square" lIns="0" tIns="0" rIns="0" bIns="0" rtlCol="0" anchor="t"/>
          <a:lstStyle/>
          <a:p>
            <a:pPr algn="l" indent="0" marL="0">
              <a:lnSpc>
                <a:spcPts val="1950"/>
              </a:lnSpc>
              <a:buNone/>
            </a:pPr>
            <a:r>
              <a:rPr lang="en-US" sz="1200" dirty="0">
                <a:solidFill>
                  <a:srgbClr val="D9E1FF"/>
                </a:solidFill>
                <a:latin typeface="Martel Sans Light" pitchFamily="34" charset="0"/>
                <a:ea typeface="Martel Sans Light" pitchFamily="34" charset="-122"/>
                <a:cs typeface="Martel Sans Light" pitchFamily="34" charset="-120"/>
              </a:rPr>
              <a:t>The Receiver Operating Characteristic - Area Under Curve evaluates the model's ability to distinguish between classes across different threshold settings. A higher AUC indicates better performance in correctly ranking positive instances over negatives.</a:t>
            </a:r>
            <a:endParaRPr lang="en-US" sz="1200" dirty="0"/>
          </a:p>
        </p:txBody>
      </p:sp>
      <p:sp>
        <p:nvSpPr>
          <p:cNvPr id="15" name="Shape 11"/>
          <p:cNvSpPr/>
          <p:nvPr/>
        </p:nvSpPr>
        <p:spPr>
          <a:xfrm>
            <a:off x="554117" y="6389013"/>
            <a:ext cx="8035766" cy="1404342"/>
          </a:xfrm>
          <a:prstGeom prst="roundRect">
            <a:avLst>
              <a:gd name="adj" fmla="val 1691"/>
            </a:avLst>
          </a:prstGeom>
          <a:solidFill>
            <a:srgbClr val="2F2B54"/>
          </a:solidFill>
          <a:ln/>
        </p:spPr>
      </p:sp>
      <p:sp>
        <p:nvSpPr>
          <p:cNvPr id="16" name="Text 12"/>
          <p:cNvSpPr/>
          <p:nvPr/>
        </p:nvSpPr>
        <p:spPr>
          <a:xfrm>
            <a:off x="712351" y="6547247"/>
            <a:ext cx="1862852" cy="232886"/>
          </a:xfrm>
          <a:prstGeom prst="rect">
            <a:avLst/>
          </a:prstGeom>
          <a:noFill/>
          <a:ln/>
        </p:spPr>
        <p:txBody>
          <a:bodyPr wrap="none" lIns="0" tIns="0" rIns="0" bIns="0" rtlCol="0" anchor="t"/>
          <a:lstStyle/>
          <a:p>
            <a:pPr algn="l" indent="0" marL="0">
              <a:lnSpc>
                <a:spcPts val="1800"/>
              </a:lnSpc>
              <a:buNone/>
            </a:pPr>
            <a:r>
              <a:rPr lang="en-US" sz="1450" dirty="0">
                <a:solidFill>
                  <a:srgbClr val="D9E1FF"/>
                </a:solidFill>
                <a:latin typeface="Kanit" pitchFamily="34" charset="0"/>
                <a:ea typeface="Kanit" pitchFamily="34" charset="-122"/>
                <a:cs typeface="Kanit" pitchFamily="34" charset="-120"/>
              </a:rPr>
              <a:t>Inference Time</a:t>
            </a:r>
            <a:endParaRPr lang="en-US" sz="1450" dirty="0"/>
          </a:p>
        </p:txBody>
      </p:sp>
      <p:sp>
        <p:nvSpPr>
          <p:cNvPr id="17" name="Text 13"/>
          <p:cNvSpPr/>
          <p:nvPr/>
        </p:nvSpPr>
        <p:spPr>
          <a:xfrm>
            <a:off x="712351" y="6875026"/>
            <a:ext cx="7719298" cy="760095"/>
          </a:xfrm>
          <a:prstGeom prst="rect">
            <a:avLst/>
          </a:prstGeom>
          <a:noFill/>
          <a:ln/>
        </p:spPr>
        <p:txBody>
          <a:bodyPr wrap="square" lIns="0" tIns="0" rIns="0" bIns="0" rtlCol="0" anchor="t"/>
          <a:lstStyle/>
          <a:p>
            <a:pPr algn="l" indent="0" marL="0">
              <a:lnSpc>
                <a:spcPts val="1950"/>
              </a:lnSpc>
              <a:buNone/>
            </a:pPr>
            <a:r>
              <a:rPr lang="en-US" sz="1200" dirty="0">
                <a:solidFill>
                  <a:srgbClr val="D9E1FF"/>
                </a:solidFill>
                <a:latin typeface="Martel Sans Light" pitchFamily="34" charset="0"/>
                <a:ea typeface="Martel Sans Light" pitchFamily="34" charset="-122"/>
                <a:cs typeface="Martel Sans Light" pitchFamily="34" charset="-120"/>
              </a:rPr>
              <a:t>Measures the speed at which the model processes input data to make predictions. Optimizing inference time is vital for real-time applications and deployment on devices with limited computational resources, such as mobile or embedded systems.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59341" y="877729"/>
            <a:ext cx="5354598" cy="565547"/>
          </a:xfrm>
          <a:prstGeom prst="rect">
            <a:avLst/>
          </a:prstGeom>
          <a:noFill/>
          <a:ln/>
        </p:spPr>
        <p:txBody>
          <a:bodyPr wrap="none" lIns="0" tIns="0" rIns="0" bIns="0" rtlCol="0" anchor="t"/>
          <a:lstStyle/>
          <a:p>
            <a:pPr algn="l" indent="0" marL="0">
              <a:lnSpc>
                <a:spcPts val="4450"/>
              </a:lnSpc>
              <a:buNone/>
            </a:pPr>
            <a:r>
              <a:rPr lang="en-US" sz="3550" dirty="0">
                <a:solidFill>
                  <a:srgbClr val="FFFFFF"/>
                </a:solidFill>
                <a:latin typeface="Kanit" pitchFamily="34" charset="0"/>
                <a:ea typeface="Kanit" pitchFamily="34" charset="-122"/>
                <a:cs typeface="Kanit" pitchFamily="34" charset="-120"/>
              </a:rPr>
              <a:t>Deployment &amp; Application</a:t>
            </a:r>
            <a:endParaRPr lang="en-US" sz="3550" dirty="0"/>
          </a:p>
        </p:txBody>
      </p:sp>
      <p:sp>
        <p:nvSpPr>
          <p:cNvPr id="4" name="Shape 1"/>
          <p:cNvSpPr/>
          <p:nvPr/>
        </p:nvSpPr>
        <p:spPr>
          <a:xfrm>
            <a:off x="6159341" y="1731645"/>
            <a:ext cx="432554" cy="432554"/>
          </a:xfrm>
          <a:prstGeom prst="roundRect">
            <a:avLst>
              <a:gd name="adj" fmla="val 6668"/>
            </a:avLst>
          </a:prstGeom>
          <a:solidFill>
            <a:srgbClr val="2F2B54"/>
          </a:solidFill>
          <a:ln/>
        </p:spPr>
      </p:sp>
      <p:sp>
        <p:nvSpPr>
          <p:cNvPr id="5" name="Text 2"/>
          <p:cNvSpPr/>
          <p:nvPr/>
        </p:nvSpPr>
        <p:spPr>
          <a:xfrm>
            <a:off x="6784181" y="1797725"/>
            <a:ext cx="2262307" cy="282773"/>
          </a:xfrm>
          <a:prstGeom prst="rect">
            <a:avLst/>
          </a:prstGeom>
          <a:noFill/>
          <a:ln/>
        </p:spPr>
        <p:txBody>
          <a:bodyPr wrap="none" lIns="0" tIns="0" rIns="0" bIns="0" rtlCol="0" anchor="t"/>
          <a:lstStyle/>
          <a:p>
            <a:pPr algn="l" indent="0" marL="0">
              <a:lnSpc>
                <a:spcPts val="2200"/>
              </a:lnSpc>
              <a:buNone/>
            </a:pPr>
            <a:r>
              <a:rPr lang="en-US" sz="1750" dirty="0">
                <a:solidFill>
                  <a:srgbClr val="D9E1FF"/>
                </a:solidFill>
                <a:latin typeface="Kanit" pitchFamily="34" charset="0"/>
                <a:ea typeface="Kanit" pitchFamily="34" charset="-122"/>
                <a:cs typeface="Kanit" pitchFamily="34" charset="-120"/>
              </a:rPr>
              <a:t>Real-Time Integration</a:t>
            </a:r>
            <a:endParaRPr lang="en-US" sz="1750" dirty="0"/>
          </a:p>
        </p:txBody>
      </p:sp>
      <p:sp>
        <p:nvSpPr>
          <p:cNvPr id="6" name="Text 3"/>
          <p:cNvSpPr/>
          <p:nvPr/>
        </p:nvSpPr>
        <p:spPr>
          <a:xfrm>
            <a:off x="6784181" y="2195870"/>
            <a:ext cx="3154085" cy="2768918"/>
          </a:xfrm>
          <a:prstGeom prst="rect">
            <a:avLst/>
          </a:prstGeom>
          <a:noFill/>
          <a:ln/>
        </p:spPr>
        <p:txBody>
          <a:bodyPr wrap="square" lIns="0" tIns="0" rIns="0" bIns="0" rtlCol="0" anchor="t"/>
          <a:lstStyle/>
          <a:p>
            <a:pPr algn="l" indent="0" marL="0">
              <a:lnSpc>
                <a:spcPts val="2400"/>
              </a:lnSpc>
              <a:buNone/>
            </a:pPr>
            <a:r>
              <a:rPr lang="en-US" sz="1500" dirty="0">
                <a:solidFill>
                  <a:srgbClr val="D9E1FF"/>
                </a:solidFill>
                <a:latin typeface="Martel Sans Light" pitchFamily="34" charset="0"/>
                <a:ea typeface="Martel Sans Light" pitchFamily="34" charset="-122"/>
                <a:cs typeface="Martel Sans Light" pitchFamily="34" charset="-120"/>
              </a:rPr>
              <a:t>Utilizes the mobile camera combined with a lightweight, optimized on-device deep learning model to offer instant counterfeit detection. Enables users to verify currency authenticity anytime and anywhere without needing an internet connection, ensuring high convenience and security.</a:t>
            </a:r>
            <a:endParaRPr lang="en-US" sz="1500" dirty="0"/>
          </a:p>
        </p:txBody>
      </p:sp>
      <p:sp>
        <p:nvSpPr>
          <p:cNvPr id="7" name="Shape 4"/>
          <p:cNvSpPr/>
          <p:nvPr/>
        </p:nvSpPr>
        <p:spPr>
          <a:xfrm>
            <a:off x="10178534" y="1731645"/>
            <a:ext cx="432554" cy="432554"/>
          </a:xfrm>
          <a:prstGeom prst="roundRect">
            <a:avLst>
              <a:gd name="adj" fmla="val 6668"/>
            </a:avLst>
          </a:prstGeom>
          <a:solidFill>
            <a:srgbClr val="2F2B54"/>
          </a:solidFill>
          <a:ln/>
        </p:spPr>
      </p:sp>
      <p:sp>
        <p:nvSpPr>
          <p:cNvPr id="8" name="Text 5"/>
          <p:cNvSpPr/>
          <p:nvPr/>
        </p:nvSpPr>
        <p:spPr>
          <a:xfrm>
            <a:off x="10803374" y="1797725"/>
            <a:ext cx="2262307" cy="282773"/>
          </a:xfrm>
          <a:prstGeom prst="rect">
            <a:avLst/>
          </a:prstGeom>
          <a:noFill/>
          <a:ln/>
        </p:spPr>
        <p:txBody>
          <a:bodyPr wrap="none" lIns="0" tIns="0" rIns="0" bIns="0" rtlCol="0" anchor="t"/>
          <a:lstStyle/>
          <a:p>
            <a:pPr algn="l" indent="0" marL="0">
              <a:lnSpc>
                <a:spcPts val="2200"/>
              </a:lnSpc>
              <a:buNone/>
            </a:pPr>
            <a:r>
              <a:rPr lang="en-US" sz="1750" dirty="0">
                <a:solidFill>
                  <a:srgbClr val="D9E1FF"/>
                </a:solidFill>
                <a:latin typeface="Kanit" pitchFamily="34" charset="0"/>
                <a:ea typeface="Kanit" pitchFamily="34" charset="-122"/>
                <a:cs typeface="Kanit" pitchFamily="34" charset="-120"/>
              </a:rPr>
              <a:t>Web Application</a:t>
            </a:r>
            <a:endParaRPr lang="en-US" sz="1750" dirty="0"/>
          </a:p>
        </p:txBody>
      </p:sp>
      <p:sp>
        <p:nvSpPr>
          <p:cNvPr id="9" name="Text 6"/>
          <p:cNvSpPr/>
          <p:nvPr/>
        </p:nvSpPr>
        <p:spPr>
          <a:xfrm>
            <a:off x="10803374" y="2195870"/>
            <a:ext cx="3154085" cy="3076575"/>
          </a:xfrm>
          <a:prstGeom prst="rect">
            <a:avLst/>
          </a:prstGeom>
          <a:noFill/>
          <a:ln/>
        </p:spPr>
        <p:txBody>
          <a:bodyPr wrap="square" lIns="0" tIns="0" rIns="0" bIns="0" rtlCol="0" anchor="t"/>
          <a:lstStyle/>
          <a:p>
            <a:pPr algn="l" indent="0" marL="0">
              <a:lnSpc>
                <a:spcPts val="2400"/>
              </a:lnSpc>
              <a:buNone/>
            </a:pPr>
            <a:r>
              <a:rPr lang="en-US" sz="1500" dirty="0">
                <a:solidFill>
                  <a:srgbClr val="D9E1FF"/>
                </a:solidFill>
                <a:latin typeface="Martel Sans Light" pitchFamily="34" charset="0"/>
                <a:ea typeface="Martel Sans Light" pitchFamily="34" charset="-122"/>
                <a:cs typeface="Martel Sans Light" pitchFamily="34" charset="-120"/>
              </a:rPr>
              <a:t>Supports uploading currency images or files through web frameworks like Streamlit or Flask. This flexible interface allows accessibility from any device with a browser, facilitating batch processing and remote verification with centralized model hosting for continuous updates and improvements.</a:t>
            </a:r>
            <a:endParaRPr lang="en-US" sz="1500" dirty="0"/>
          </a:p>
        </p:txBody>
      </p:sp>
      <p:sp>
        <p:nvSpPr>
          <p:cNvPr id="10" name="Shape 7"/>
          <p:cNvSpPr/>
          <p:nvPr/>
        </p:nvSpPr>
        <p:spPr>
          <a:xfrm>
            <a:off x="6159341" y="5657017"/>
            <a:ext cx="432554" cy="432554"/>
          </a:xfrm>
          <a:prstGeom prst="roundRect">
            <a:avLst>
              <a:gd name="adj" fmla="val 6668"/>
            </a:avLst>
          </a:prstGeom>
          <a:solidFill>
            <a:srgbClr val="2F2B54"/>
          </a:solidFill>
          <a:ln/>
        </p:spPr>
      </p:sp>
      <p:sp>
        <p:nvSpPr>
          <p:cNvPr id="11" name="Text 8"/>
          <p:cNvSpPr/>
          <p:nvPr/>
        </p:nvSpPr>
        <p:spPr>
          <a:xfrm>
            <a:off x="6784181" y="5723096"/>
            <a:ext cx="2262307" cy="282773"/>
          </a:xfrm>
          <a:prstGeom prst="rect">
            <a:avLst/>
          </a:prstGeom>
          <a:noFill/>
          <a:ln/>
        </p:spPr>
        <p:txBody>
          <a:bodyPr wrap="none" lIns="0" tIns="0" rIns="0" bIns="0" rtlCol="0" anchor="t"/>
          <a:lstStyle/>
          <a:p>
            <a:pPr algn="l" indent="0" marL="0">
              <a:lnSpc>
                <a:spcPts val="2200"/>
              </a:lnSpc>
              <a:buNone/>
            </a:pPr>
            <a:r>
              <a:rPr lang="en-US" sz="1750" dirty="0">
                <a:solidFill>
                  <a:srgbClr val="D9E1FF"/>
                </a:solidFill>
                <a:latin typeface="Kanit" pitchFamily="34" charset="0"/>
                <a:ea typeface="Kanit" pitchFamily="34" charset="-122"/>
                <a:cs typeface="Kanit" pitchFamily="34" charset="-120"/>
              </a:rPr>
              <a:t>Output</a:t>
            </a:r>
            <a:endParaRPr lang="en-US" sz="1750" dirty="0"/>
          </a:p>
        </p:txBody>
      </p:sp>
      <p:sp>
        <p:nvSpPr>
          <p:cNvPr id="12" name="Text 9"/>
          <p:cNvSpPr/>
          <p:nvPr/>
        </p:nvSpPr>
        <p:spPr>
          <a:xfrm>
            <a:off x="6784181" y="6121241"/>
            <a:ext cx="7173278" cy="1230630"/>
          </a:xfrm>
          <a:prstGeom prst="rect">
            <a:avLst/>
          </a:prstGeom>
          <a:noFill/>
          <a:ln/>
        </p:spPr>
        <p:txBody>
          <a:bodyPr wrap="square" lIns="0" tIns="0" rIns="0" bIns="0" rtlCol="0" anchor="t"/>
          <a:lstStyle/>
          <a:p>
            <a:pPr algn="l" indent="0" marL="0">
              <a:lnSpc>
                <a:spcPts val="2400"/>
              </a:lnSpc>
              <a:buNone/>
            </a:pPr>
            <a:r>
              <a:rPr lang="en-US" sz="1500" dirty="0">
                <a:solidFill>
                  <a:srgbClr val="D9E1FF"/>
                </a:solidFill>
                <a:latin typeface="Martel Sans Light" pitchFamily="34" charset="0"/>
                <a:ea typeface="Martel Sans Light" pitchFamily="34" charset="-122"/>
                <a:cs typeface="Martel Sans Light" pitchFamily="34" charset="-120"/>
              </a:rPr>
              <a:t>Displays classification results clearly, including a confidence score that quantifies the model's certainty regarding authenticity. This helps users make informed decisions, providing transparency and trust in the detection system's predictions.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1145" y="866656"/>
            <a:ext cx="4737973" cy="496729"/>
          </a:xfrm>
          <a:prstGeom prst="rect">
            <a:avLst/>
          </a:prstGeom>
          <a:noFill/>
          <a:ln/>
        </p:spPr>
        <p:txBody>
          <a:bodyPr wrap="none" lIns="0" tIns="0" rIns="0" bIns="0" rtlCol="0" anchor="t"/>
          <a:lstStyle/>
          <a:p>
            <a:pPr algn="l" indent="0" marL="0">
              <a:lnSpc>
                <a:spcPts val="3900"/>
              </a:lnSpc>
              <a:buNone/>
            </a:pPr>
            <a:r>
              <a:rPr lang="en-US" sz="3100" dirty="0">
                <a:solidFill>
                  <a:srgbClr val="FFFFFF"/>
                </a:solidFill>
                <a:latin typeface="Kanit" pitchFamily="34" charset="0"/>
                <a:ea typeface="Kanit" pitchFamily="34" charset="-122"/>
                <a:cs typeface="Kanit" pitchFamily="34" charset="-120"/>
              </a:rPr>
              <a:t>Conclusion &amp; Future Scope</a:t>
            </a:r>
            <a:endParaRPr lang="en-US" sz="3100" dirty="0"/>
          </a:p>
        </p:txBody>
      </p:sp>
      <p:sp>
        <p:nvSpPr>
          <p:cNvPr id="3" name="Text 1"/>
          <p:cNvSpPr/>
          <p:nvPr/>
        </p:nvSpPr>
        <p:spPr>
          <a:xfrm>
            <a:off x="591145" y="1785580"/>
            <a:ext cx="1987153" cy="248364"/>
          </a:xfrm>
          <a:prstGeom prst="rect">
            <a:avLst/>
          </a:prstGeom>
          <a:noFill/>
          <a:ln/>
        </p:spPr>
        <p:txBody>
          <a:bodyPr wrap="none" lIns="0" tIns="0" rIns="0" bIns="0" rtlCol="0" anchor="t"/>
          <a:lstStyle/>
          <a:p>
            <a:pPr algn="l" indent="0" marL="0">
              <a:lnSpc>
                <a:spcPts val="1950"/>
              </a:lnSpc>
              <a:buNone/>
            </a:pPr>
            <a:r>
              <a:rPr lang="en-US" sz="1550" dirty="0">
                <a:solidFill>
                  <a:srgbClr val="FFFFFF"/>
                </a:solidFill>
                <a:latin typeface="Kanit" pitchFamily="34" charset="0"/>
                <a:ea typeface="Kanit" pitchFamily="34" charset="-122"/>
                <a:cs typeface="Kanit" pitchFamily="34" charset="-120"/>
              </a:rPr>
              <a:t>Achievements</a:t>
            </a:r>
            <a:endParaRPr lang="en-US" sz="1550" dirty="0"/>
          </a:p>
        </p:txBody>
      </p:sp>
      <p:sp>
        <p:nvSpPr>
          <p:cNvPr id="4" name="Text 2"/>
          <p:cNvSpPr/>
          <p:nvPr/>
        </p:nvSpPr>
        <p:spPr>
          <a:xfrm>
            <a:off x="591145" y="2202775"/>
            <a:ext cx="4207550" cy="2702719"/>
          </a:xfrm>
          <a:prstGeom prst="rect">
            <a:avLst/>
          </a:prstGeom>
          <a:noFill/>
          <a:ln/>
        </p:spPr>
        <p:txBody>
          <a:bodyPr wrap="square" lIns="0" tIns="0" rIns="0" bIns="0" rtlCol="0" anchor="t"/>
          <a:lstStyle/>
          <a:p>
            <a:pPr algn="l" indent="0" marL="0">
              <a:lnSpc>
                <a:spcPts val="2100"/>
              </a:lnSpc>
              <a:buNone/>
            </a:pPr>
            <a:r>
              <a:rPr lang="en-US" sz="1300" dirty="0">
                <a:solidFill>
                  <a:srgbClr val="D9E1FF"/>
                </a:solidFill>
                <a:latin typeface="Martel Sans Light" pitchFamily="34" charset="0"/>
                <a:ea typeface="Martel Sans Light" pitchFamily="34" charset="-122"/>
                <a:cs typeface="Martel Sans Light" pitchFamily="34" charset="-120"/>
              </a:rPr>
              <a:t>Our deep learning model has demonstrated reliable and accurate counterfeit currency detection, consistently surpassing traditional manual inspection methods and ultraviolet (UV) techniques. The system has proven effective in identifying subtle features that are often missed by human examiners, contributing to enhanced security and fraud prevention. These results highlight the potential of AI-driven solutions in modern financial authentication processes.</a:t>
            </a:r>
            <a:endParaRPr lang="en-US" sz="1300" dirty="0"/>
          </a:p>
        </p:txBody>
      </p:sp>
      <p:sp>
        <p:nvSpPr>
          <p:cNvPr id="5" name="Text 3"/>
          <p:cNvSpPr/>
          <p:nvPr/>
        </p:nvSpPr>
        <p:spPr>
          <a:xfrm>
            <a:off x="5218271" y="1785580"/>
            <a:ext cx="1987153" cy="248364"/>
          </a:xfrm>
          <a:prstGeom prst="rect">
            <a:avLst/>
          </a:prstGeom>
          <a:noFill/>
          <a:ln/>
        </p:spPr>
        <p:txBody>
          <a:bodyPr wrap="none" lIns="0" tIns="0" rIns="0" bIns="0" rtlCol="0" anchor="t"/>
          <a:lstStyle/>
          <a:p>
            <a:pPr algn="l" indent="0" marL="0">
              <a:lnSpc>
                <a:spcPts val="1950"/>
              </a:lnSpc>
              <a:buNone/>
            </a:pPr>
            <a:r>
              <a:rPr lang="en-US" sz="1550" dirty="0">
                <a:solidFill>
                  <a:srgbClr val="FFFFFF"/>
                </a:solidFill>
                <a:latin typeface="Kanit" pitchFamily="34" charset="0"/>
                <a:ea typeface="Kanit" pitchFamily="34" charset="-122"/>
                <a:cs typeface="Kanit" pitchFamily="34" charset="-120"/>
              </a:rPr>
              <a:t>Limitations</a:t>
            </a:r>
            <a:endParaRPr lang="en-US" sz="1550" dirty="0"/>
          </a:p>
        </p:txBody>
      </p:sp>
      <p:sp>
        <p:nvSpPr>
          <p:cNvPr id="6" name="Text 4"/>
          <p:cNvSpPr/>
          <p:nvPr/>
        </p:nvSpPr>
        <p:spPr>
          <a:xfrm>
            <a:off x="5218271" y="2202775"/>
            <a:ext cx="4207550" cy="1081088"/>
          </a:xfrm>
          <a:prstGeom prst="rect">
            <a:avLst/>
          </a:prstGeom>
          <a:noFill/>
          <a:ln/>
        </p:spPr>
        <p:txBody>
          <a:bodyPr wrap="square" lIns="0" tIns="0" rIns="0" bIns="0" rtlCol="0" anchor="t"/>
          <a:lstStyle/>
          <a:p>
            <a:pPr algn="l" marL="342900" indent="-342900">
              <a:lnSpc>
                <a:spcPts val="2100"/>
              </a:lnSpc>
              <a:buSzPct val="100000"/>
              <a:buChar char="•"/>
            </a:pPr>
            <a:r>
              <a:rPr lang="en-US" sz="1300" dirty="0">
                <a:solidFill>
                  <a:srgbClr val="D9E1FF"/>
                </a:solidFill>
                <a:latin typeface="Martel Sans Light" pitchFamily="34" charset="0"/>
                <a:ea typeface="Martel Sans Light" pitchFamily="34" charset="-122"/>
                <a:cs typeface="Martel Sans Light" pitchFamily="34" charset="-120"/>
              </a:rPr>
              <a:t>Currently, the dataset used for training and evaluation is limited exclusively to Indian currency notes, which restricts the model’s applicability to other currencies worldwide.</a:t>
            </a:r>
            <a:endParaRPr lang="en-US" sz="1300" dirty="0"/>
          </a:p>
        </p:txBody>
      </p:sp>
      <p:sp>
        <p:nvSpPr>
          <p:cNvPr id="7" name="Text 5"/>
          <p:cNvSpPr/>
          <p:nvPr/>
        </p:nvSpPr>
        <p:spPr>
          <a:xfrm>
            <a:off x="5218271" y="3342918"/>
            <a:ext cx="4207550" cy="1081088"/>
          </a:xfrm>
          <a:prstGeom prst="rect">
            <a:avLst/>
          </a:prstGeom>
          <a:noFill/>
          <a:ln/>
        </p:spPr>
        <p:txBody>
          <a:bodyPr wrap="square" lIns="0" tIns="0" rIns="0" bIns="0" rtlCol="0" anchor="t"/>
          <a:lstStyle/>
          <a:p>
            <a:pPr algn="l" marL="342900" indent="-342900">
              <a:lnSpc>
                <a:spcPts val="2100"/>
              </a:lnSpc>
              <a:buSzPct val="100000"/>
              <a:buChar char="•"/>
            </a:pPr>
            <a:r>
              <a:rPr lang="en-US" sz="1300" dirty="0">
                <a:solidFill>
                  <a:srgbClr val="D9E1FF"/>
                </a:solidFill>
                <a:latin typeface="Martel Sans Light" pitchFamily="34" charset="0"/>
                <a:ea typeface="Martel Sans Light" pitchFamily="34" charset="-122"/>
                <a:cs typeface="Martel Sans Light" pitchFamily="34" charset="-120"/>
              </a:rPr>
              <a:t>The model’s sensitivity to variations in image quality, including poor lighting, blurriness, and background noise, can sometimes lead to reduced detection accuracy.</a:t>
            </a:r>
            <a:endParaRPr lang="en-US" sz="1300" dirty="0"/>
          </a:p>
        </p:txBody>
      </p:sp>
      <p:sp>
        <p:nvSpPr>
          <p:cNvPr id="8" name="Text 6"/>
          <p:cNvSpPr/>
          <p:nvPr/>
        </p:nvSpPr>
        <p:spPr>
          <a:xfrm>
            <a:off x="5218271" y="4483060"/>
            <a:ext cx="4207550" cy="1081088"/>
          </a:xfrm>
          <a:prstGeom prst="rect">
            <a:avLst/>
          </a:prstGeom>
          <a:noFill/>
          <a:ln/>
        </p:spPr>
        <p:txBody>
          <a:bodyPr wrap="square" lIns="0" tIns="0" rIns="0" bIns="0" rtlCol="0" anchor="t"/>
          <a:lstStyle/>
          <a:p>
            <a:pPr algn="l" marL="342900" indent="-342900">
              <a:lnSpc>
                <a:spcPts val="2100"/>
              </a:lnSpc>
              <a:buSzPct val="100000"/>
              <a:buChar char="•"/>
            </a:pPr>
            <a:r>
              <a:rPr lang="en-US" sz="1300" dirty="0">
                <a:solidFill>
                  <a:srgbClr val="D9E1FF"/>
                </a:solidFill>
                <a:latin typeface="Martel Sans Light" pitchFamily="34" charset="0"/>
                <a:ea typeface="Martel Sans Light" pitchFamily="34" charset="-122"/>
                <a:cs typeface="Martel Sans Light" pitchFamily="34" charset="-120"/>
              </a:rPr>
              <a:t>Additionally, the system may face challenges in real-world deployment scenarios where images are captured with diverse devices under uncontrolled environments.</a:t>
            </a:r>
            <a:endParaRPr lang="en-US" sz="1300" dirty="0"/>
          </a:p>
        </p:txBody>
      </p:sp>
      <p:sp>
        <p:nvSpPr>
          <p:cNvPr id="9" name="Text 7"/>
          <p:cNvSpPr/>
          <p:nvPr/>
        </p:nvSpPr>
        <p:spPr>
          <a:xfrm>
            <a:off x="9845397" y="1785580"/>
            <a:ext cx="1987153" cy="248364"/>
          </a:xfrm>
          <a:prstGeom prst="rect">
            <a:avLst/>
          </a:prstGeom>
          <a:noFill/>
          <a:ln/>
        </p:spPr>
        <p:txBody>
          <a:bodyPr wrap="none" lIns="0" tIns="0" rIns="0" bIns="0" rtlCol="0" anchor="t"/>
          <a:lstStyle/>
          <a:p>
            <a:pPr algn="l" indent="0" marL="0">
              <a:lnSpc>
                <a:spcPts val="1950"/>
              </a:lnSpc>
              <a:buNone/>
            </a:pPr>
            <a:r>
              <a:rPr lang="en-US" sz="1550" dirty="0">
                <a:solidFill>
                  <a:srgbClr val="FFFFFF"/>
                </a:solidFill>
                <a:latin typeface="Kanit" pitchFamily="34" charset="0"/>
                <a:ea typeface="Kanit" pitchFamily="34" charset="-122"/>
                <a:cs typeface="Kanit" pitchFamily="34" charset="-120"/>
              </a:rPr>
              <a:t>Future Enhancements</a:t>
            </a:r>
            <a:endParaRPr lang="en-US" sz="1550" dirty="0"/>
          </a:p>
        </p:txBody>
      </p:sp>
      <p:sp>
        <p:nvSpPr>
          <p:cNvPr id="10" name="Text 8"/>
          <p:cNvSpPr/>
          <p:nvPr/>
        </p:nvSpPr>
        <p:spPr>
          <a:xfrm>
            <a:off x="9845397" y="2202775"/>
            <a:ext cx="4207550" cy="1081088"/>
          </a:xfrm>
          <a:prstGeom prst="rect">
            <a:avLst/>
          </a:prstGeom>
          <a:noFill/>
          <a:ln/>
        </p:spPr>
        <p:txBody>
          <a:bodyPr wrap="square" lIns="0" tIns="0" rIns="0" bIns="0" rtlCol="0" anchor="t"/>
          <a:lstStyle/>
          <a:p>
            <a:pPr algn="l" marL="342900" indent="-342900">
              <a:lnSpc>
                <a:spcPts val="2100"/>
              </a:lnSpc>
              <a:buSzPct val="100000"/>
              <a:buChar char="•"/>
            </a:pPr>
            <a:r>
              <a:rPr lang="en-US" sz="1300" dirty="0">
                <a:solidFill>
                  <a:srgbClr val="D9E1FF"/>
                </a:solidFill>
                <a:latin typeface="Martel Sans Light" pitchFamily="34" charset="0"/>
                <a:ea typeface="Martel Sans Light" pitchFamily="34" charset="-122"/>
                <a:cs typeface="Martel Sans Light" pitchFamily="34" charset="-120"/>
              </a:rPr>
              <a:t>Incorporation of multimodal detection combining both UV and visible light imaging to improve the accuracy and robustness of counterfeit identification.</a:t>
            </a:r>
            <a:endParaRPr lang="en-US" sz="1300" dirty="0"/>
          </a:p>
        </p:txBody>
      </p:sp>
      <p:sp>
        <p:nvSpPr>
          <p:cNvPr id="11" name="Text 9"/>
          <p:cNvSpPr/>
          <p:nvPr/>
        </p:nvSpPr>
        <p:spPr>
          <a:xfrm>
            <a:off x="9845397" y="3342918"/>
            <a:ext cx="4207550" cy="810816"/>
          </a:xfrm>
          <a:prstGeom prst="rect">
            <a:avLst/>
          </a:prstGeom>
          <a:noFill/>
          <a:ln/>
        </p:spPr>
        <p:txBody>
          <a:bodyPr wrap="square" lIns="0" tIns="0" rIns="0" bIns="0" rtlCol="0" anchor="t"/>
          <a:lstStyle/>
          <a:p>
            <a:pPr algn="l" marL="342900" indent="-342900">
              <a:lnSpc>
                <a:spcPts val="2100"/>
              </a:lnSpc>
              <a:buSzPct val="100000"/>
              <a:buChar char="•"/>
            </a:pPr>
            <a:r>
              <a:rPr lang="en-US" sz="1300" dirty="0">
                <a:solidFill>
                  <a:srgbClr val="D9E1FF"/>
                </a:solidFill>
                <a:latin typeface="Martel Sans Light" pitchFamily="34" charset="0"/>
                <a:ea typeface="Martel Sans Light" pitchFamily="34" charset="-122"/>
                <a:cs typeface="Martel Sans Light" pitchFamily="34" charset="-120"/>
              </a:rPr>
              <a:t>Integration of Optical Character Recognition (OCR) technology for serial number verification to add an additional layer of security and validation.</a:t>
            </a:r>
            <a:endParaRPr lang="en-US" sz="1300" dirty="0"/>
          </a:p>
        </p:txBody>
      </p:sp>
      <p:sp>
        <p:nvSpPr>
          <p:cNvPr id="12" name="Text 10"/>
          <p:cNvSpPr/>
          <p:nvPr/>
        </p:nvSpPr>
        <p:spPr>
          <a:xfrm>
            <a:off x="9845397" y="4212788"/>
            <a:ext cx="4207550" cy="1081088"/>
          </a:xfrm>
          <a:prstGeom prst="rect">
            <a:avLst/>
          </a:prstGeom>
          <a:noFill/>
          <a:ln/>
        </p:spPr>
        <p:txBody>
          <a:bodyPr wrap="square" lIns="0" tIns="0" rIns="0" bIns="0" rtlCol="0" anchor="t"/>
          <a:lstStyle/>
          <a:p>
            <a:pPr algn="l" marL="342900" indent="-342900">
              <a:lnSpc>
                <a:spcPts val="2100"/>
              </a:lnSpc>
              <a:buSzPct val="100000"/>
              <a:buChar char="•"/>
            </a:pPr>
            <a:r>
              <a:rPr lang="en-US" sz="1300" dirty="0">
                <a:solidFill>
                  <a:srgbClr val="D9E1FF"/>
                </a:solidFill>
                <a:latin typeface="Martel Sans Light" pitchFamily="34" charset="0"/>
                <a:ea typeface="Martel Sans Light" pitchFamily="34" charset="-122"/>
                <a:cs typeface="Martel Sans Light" pitchFamily="34" charset="-120"/>
              </a:rPr>
              <a:t>Expanding support to include multiple foreign currencies, enabling the system to operate effectively in international settings and aid global financial institutions.</a:t>
            </a:r>
            <a:endParaRPr lang="en-US" sz="1300" dirty="0"/>
          </a:p>
        </p:txBody>
      </p:sp>
      <p:sp>
        <p:nvSpPr>
          <p:cNvPr id="13" name="Text 11"/>
          <p:cNvSpPr/>
          <p:nvPr/>
        </p:nvSpPr>
        <p:spPr>
          <a:xfrm>
            <a:off x="9845397" y="5352931"/>
            <a:ext cx="4207550" cy="1081088"/>
          </a:xfrm>
          <a:prstGeom prst="rect">
            <a:avLst/>
          </a:prstGeom>
          <a:noFill/>
          <a:ln/>
        </p:spPr>
        <p:txBody>
          <a:bodyPr wrap="square" lIns="0" tIns="0" rIns="0" bIns="0" rtlCol="0" anchor="t"/>
          <a:lstStyle/>
          <a:p>
            <a:pPr algn="l" marL="342900" indent="-342900">
              <a:lnSpc>
                <a:spcPts val="2100"/>
              </a:lnSpc>
              <a:buSzPct val="100000"/>
              <a:buChar char="•"/>
            </a:pPr>
            <a:r>
              <a:rPr lang="en-US" sz="1300" dirty="0">
                <a:solidFill>
                  <a:srgbClr val="D9E1FF"/>
                </a:solidFill>
                <a:latin typeface="Martel Sans Light" pitchFamily="34" charset="0"/>
                <a:ea typeface="Martel Sans Light" pitchFamily="34" charset="-122"/>
                <a:cs typeface="Martel Sans Light" pitchFamily="34" charset="-120"/>
              </a:rPr>
              <a:t>Implementation of advanced image enhancement and noise reduction techniques to mitigate the impact of poor image quality on detection results.</a:t>
            </a:r>
            <a:endParaRPr lang="en-US" sz="1300" dirty="0"/>
          </a:p>
        </p:txBody>
      </p:sp>
      <p:sp>
        <p:nvSpPr>
          <p:cNvPr id="14" name="Text 12"/>
          <p:cNvSpPr/>
          <p:nvPr/>
        </p:nvSpPr>
        <p:spPr>
          <a:xfrm>
            <a:off x="9845397" y="6493073"/>
            <a:ext cx="4207550" cy="810816"/>
          </a:xfrm>
          <a:prstGeom prst="rect">
            <a:avLst/>
          </a:prstGeom>
          <a:noFill/>
          <a:ln/>
        </p:spPr>
        <p:txBody>
          <a:bodyPr wrap="square" lIns="0" tIns="0" rIns="0" bIns="0" rtlCol="0" anchor="t"/>
          <a:lstStyle/>
          <a:p>
            <a:pPr algn="l" marL="342900" indent="-342900">
              <a:lnSpc>
                <a:spcPts val="2100"/>
              </a:lnSpc>
              <a:buSzPct val="100000"/>
              <a:buChar char="•"/>
            </a:pPr>
            <a:r>
              <a:rPr lang="en-US" sz="1300" dirty="0">
                <a:solidFill>
                  <a:srgbClr val="D9E1FF"/>
                </a:solidFill>
                <a:latin typeface="Martel Sans Light" pitchFamily="34" charset="0"/>
                <a:ea typeface="Martel Sans Light" pitchFamily="34" charset="-122"/>
                <a:cs typeface="Martel Sans Light" pitchFamily="34" charset="-120"/>
              </a:rPr>
              <a:t>Exploration of real-time mobile application deployment with optimized lightweight models for accessible on-the-go currency authentication.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2025-05-08T10:05:52Z</dcterms:created>
  <dcterms:modified xsi:type="dcterms:W3CDTF">2025-05-08T10:05:52Z</dcterms:modified>
</cp:coreProperties>
</file>